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75569"/>
                </a:solidFill>
                <a:latin typeface="+mn-lt"/>
              </a:defRPr>
            </a:pPr>
            <a:r>
              <a:rPr sz="1100" b="0" i="0" u="none" strike="noStrike">
                <a:solidFill>
                  <a:srgbClr val="475569"/>
                </a:solidFill>
                <a:latin typeface="+mn-lt"/>
              </a:rPr>
              <a:t>Same first model, three ways of scoring it</a:t>
            </a:r>
          </a:p>
        </c:rich>
      </c:tx>
      <c:layout/>
      <c:overlay val="0"/>
    </c:title>
    <c:autoTitleDeleted val="0"/>
    <c:plotArea>
      <c:layout/>
      <c:barChart>
        <c:barDir val="col"/>
        <c:grouping val="clustered"/>
        <c:varyColors val="0"/>
        <c:ser>
          <c:idx val="0"/>
          <c:order val="0"/>
          <c:tx>
            <c:strRef>
              <c:f>Sheet1!$B$1</c:f>
              <c:strCache>
                <c:ptCount val="1"/>
                <c:pt idx="0">
                  <c:v>Macro-F1</c:v>
                </c:pt>
              </c:strCache>
            </c:strRef>
          </c:tx>
          <c:spPr>
            <a:solidFill>
              <a:srgbClr val="64748B"/>
            </a:solidFill>
            <a:effectLst/>
          </c:spPr>
          <c:invertIfNegative val="0"/>
          <c:dLbls>
            <c:numFmt formatCode="0.0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E8711A"/>
              </a:solidFill>
              <a:effectLst/>
            </c:spPr>
          </c:dPt>
          <c:dPt>
            <c:idx val="2"/>
            <c:invertIfNegative val="0"/>
            <c:bubble3D val="0"/>
            <c:spPr>
              <a:solidFill>
                <a:srgbClr val="2563EB"/>
              </a:solidFill>
              <a:effectLst/>
            </c:spPr>
          </c:dPt>
          <c:cat>
            <c:multiLvlStrRef>
              <c:f>Sheet1!$A$2:$A$4</c:f>
              <c:multiLvlStrCache>
                <c:ptCount val="3"/>
                <c:lvl>
                  <c:pt idx="0">
                    <c:v>Random folds</c:v>
                  </c:pt>
                  <c:pt idx="1">
                    <c:v>Grouped folds</c:v>
                  </c:pt>
                  <c:pt idx="2">
                    <c:v>Public LB</c:v>
                  </c:pt>
                </c:lvl>
              </c:multiLvlStrCache>
            </c:multiLvlStrRef>
          </c:cat>
          <c:val>
            <c:numRef>
              <c:f>Sheet1!$B$2:$B$4</c:f>
              <c:numCache>
                <c:formatCode>General</c:formatCode>
                <c:ptCount val="3"/>
                <c:pt idx="0">
                  <c:v>0.93</c:v>
                </c:pt>
                <c:pt idx="1">
                  <c:v>0.891</c:v>
                </c:pt>
                <c:pt idx="2">
                  <c:v>0.917</c:v>
                </c:pt>
              </c:numCache>
            </c:numRef>
          </c:val>
        </c:ser>
        <c:dLbls>
          <c:numFmt formatCode="0.0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5E7EB"/>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0.95"/>
          <c:min val="0.85"/>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900" b="0" i="0" u="none" strike="noStrike">
                <a:solidFill>
                  <a:srgbClr val="475569"/>
                </a:solidFill>
                <a:latin typeface="+mn-lt"/>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75569"/>
                </a:solidFill>
                <a:latin typeface="+mn-lt"/>
              </a:defRPr>
            </a:pPr>
            <a:r>
              <a:rPr sz="1100" b="0" i="0" u="none" strike="noStrike">
                <a:solidFill>
                  <a:srgbClr val="475569"/>
                </a:solidFill>
                <a:latin typeface="+mn-lt"/>
              </a:rPr>
              <a:t>Layer-32 probe vs trailing-silence padding</a:t>
            </a:r>
          </a:p>
        </c:rich>
      </c:tx>
      <c:layout/>
      <c:overlay val="0"/>
    </c:title>
    <c:autoTitleDeleted val="0"/>
    <c:plotArea>
      <c:layout/>
      <c:barChart>
        <c:barDir val="col"/>
        <c:grouping val="clustered"/>
        <c:varyColors val="0"/>
        <c:ser>
          <c:idx val="0"/>
          <c:order val="0"/>
          <c:tx>
            <c:strRef>
              <c:f>Sheet1!$B$1</c:f>
              <c:strCache>
                <c:ptCount val="1"/>
                <c:pt idx="0">
                  <c:v>Probe F1</c:v>
                </c:pt>
              </c:strCache>
            </c:strRef>
          </c:tx>
          <c:spPr>
            <a:solidFill>
              <a:srgbClr val="64748B"/>
            </a:solidFill>
            <a:effectLst/>
          </c:spPr>
          <c:invertIfNegative val="0"/>
          <c:dLbls>
            <c:numFmt formatCode="0.0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E8711A"/>
              </a:solidFill>
              <a:effectLst/>
            </c:spPr>
          </c:dPt>
          <c:dPt>
            <c:idx val="2"/>
            <c:invertIfNegative val="0"/>
            <c:bubble3D val="0"/>
            <c:spPr>
              <a:solidFill>
                <a:srgbClr val="E8711A"/>
              </a:solidFill>
              <a:effectLst/>
            </c:spPr>
          </c:dPt>
          <c:dPt>
            <c:idx val="3"/>
            <c:invertIfNegative val="0"/>
            <c:bubble3D val="0"/>
            <c:spPr>
              <a:solidFill>
                <a:srgbClr val="E8711A"/>
              </a:solidFill>
              <a:effectLst/>
            </c:spPr>
          </c:dPt>
          <c:cat>
            <c:multiLvlStrRef>
              <c:f>Sheet1!$A$2:$A$5</c:f>
              <c:multiLvlStrCache>
                <c:ptCount val="4"/>
                <c:lvl>
                  <c:pt idx="0">
                    <c:v>No padding</c:v>
                  </c:pt>
                  <c:pt idx="1">
                    <c:v>12 s</c:v>
                  </c:pt>
                  <c:pt idx="2">
                    <c:v>20 s</c:v>
                  </c:pt>
                  <c:pt idx="3">
                    <c:v>30 s</c:v>
                  </c:pt>
                </c:lvl>
              </c:multiLvlStrCache>
            </c:multiLvlStrRef>
          </c:cat>
          <c:val>
            <c:numRef>
              <c:f>Sheet1!$B$2:$B$5</c:f>
              <c:numCache>
                <c:formatCode>General</c:formatCode>
                <c:ptCount val="4"/>
                <c:pt idx="0">
                  <c:v>0.833</c:v>
                </c:pt>
                <c:pt idx="1">
                  <c:v>0.904</c:v>
                </c:pt>
                <c:pt idx="2">
                  <c:v>0.916</c:v>
                </c:pt>
                <c:pt idx="3">
                  <c:v>0.913</c:v>
                </c:pt>
              </c:numCache>
            </c:numRef>
          </c:val>
        </c:ser>
        <c:dLbls>
          <c:numFmt formatCode="0.0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5E7EB"/>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0.94"/>
          <c:min val="0.8"/>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900" b="0" i="0" u="none" strike="noStrike">
                <a:solidFill>
                  <a:srgbClr val="475569"/>
                </a:solidFill>
                <a:latin typeface="+mn-lt"/>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Test clips</c:v>
                </c:pt>
              </c:strCache>
            </c:strRef>
          </c:tx>
          <c:spPr>
            <a:solidFill>
              <a:schemeClr val="accent1"/>
            </a:solidFill>
            <a:ln w="9525" cap="flat">
              <a:solidFill>
                <a:srgbClr val="F9F9F9"/>
              </a:solidFill>
              <a:prstDash val="solid"/>
              <a:round/>
            </a:ln>
            <a:effectLst/>
          </c:spPr>
          <c:dPt>
            <c:idx val="0"/>
            <c:bubble3D val="0"/>
            <c:spPr>
              <a:solidFill>
                <a:srgbClr val="E8711A"/>
              </a:solidFill>
              <a:ln w="9525" cap="flat">
                <a:solidFill>
                  <a:srgbClr val="FFFFFF"/>
                </a:solidFill>
                <a:prstDash val="solid"/>
                <a:round/>
              </a:ln>
              <a:effectLst/>
            </c:spPr>
          </c:dPt>
          <c:dPt>
            <c:idx val="1"/>
            <c:bubble3D val="0"/>
            <c:spPr>
              <a:solidFill>
                <a:srgbClr val="E5E7EB"/>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Locked by a training twin</c:v>
                </c:pt>
                <c:pt idx="1">
                  <c:v>Predicted by the model</c:v>
                </c:pt>
              </c:strCache>
            </c:strRef>
          </c:cat>
          <c:val>
            <c:numRef>
              <c:f>Sheet1!$B$2:$B$3</c:f>
              <c:numCache>
                <c:ptCount val="2"/>
                <c:pt idx="0">
                  <c:v>78</c:v>
                </c:pt>
                <c:pt idx="1">
                  <c:v>131</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75569"/>
                </a:solidFill>
                <a:latin typeface="+mn-lt"/>
              </a:defRPr>
            </a:pPr>
            <a:r>
              <a:rPr sz="1100" b="0" i="0" u="none" strike="noStrike">
                <a:solidFill>
                  <a:srgbClr val="475569"/>
                </a:solidFill>
                <a:latin typeface="+mn-lt"/>
              </a:rPr>
              <a:t>Leakage-free CV, each step pre-registered and confirmed on 3 splits</a:t>
            </a:r>
          </a:p>
        </c:rich>
      </c:tx>
      <c:layout/>
      <c:overlay val="0"/>
    </c:title>
    <c:autoTitleDeleted val="0"/>
    <c:plotArea>
      <c:layout/>
      <c:barChart>
        <c:barDir val="col"/>
        <c:grouping val="clustered"/>
        <c:varyColors val="0"/>
        <c:ser>
          <c:idx val="0"/>
          <c:order val="0"/>
          <c:tx>
            <c:strRef>
              <c:f>Sheet1!$B$1</c:f>
              <c:strCache>
                <c:ptCount val="1"/>
                <c:pt idx="0">
                  <c:v>Grouped CV</c:v>
                </c:pt>
              </c:strCache>
            </c:strRef>
          </c:tx>
          <c:spPr>
            <a:solidFill>
              <a:srgbClr val="FBD5B5"/>
            </a:solidFill>
            <a:effectLst/>
          </c:spPr>
          <c:invertIfNegative val="0"/>
          <c:dLbls>
            <c:numFmt formatCode="0.0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FBD5B5"/>
              </a:solidFill>
              <a:effectLst/>
            </c:spPr>
          </c:dPt>
          <c:dPt>
            <c:idx val="1"/>
            <c:invertIfNegative val="0"/>
            <c:bubble3D val="0"/>
            <c:spPr>
              <a:solidFill>
                <a:srgbClr val="F7B07A"/>
              </a:solidFill>
              <a:effectLst/>
            </c:spPr>
          </c:dPt>
          <c:dPt>
            <c:idx val="2"/>
            <c:invertIfNegative val="0"/>
            <c:bubble3D val="0"/>
            <c:spPr>
              <a:solidFill>
                <a:srgbClr val="F28C46"/>
              </a:solidFill>
              <a:effectLst/>
            </c:spPr>
          </c:dPt>
          <c:dPt>
            <c:idx val="3"/>
            <c:invertIfNegative val="0"/>
            <c:bubble3D val="0"/>
            <c:spPr>
              <a:solidFill>
                <a:srgbClr val="EC7A2C"/>
              </a:solidFill>
              <a:effectLst/>
            </c:spPr>
          </c:dPt>
          <c:dPt>
            <c:idx val="4"/>
            <c:invertIfNegative val="0"/>
            <c:bubble3D val="0"/>
            <c:spPr>
              <a:solidFill>
                <a:srgbClr val="E8711A"/>
              </a:solidFill>
              <a:effectLst/>
            </c:spPr>
          </c:dPt>
          <c:cat>
            <c:multiLvlStrRef>
              <c:f>Sheet1!$A$2:$A$6</c:f>
              <c:multiLvlStrCache>
                <c:ptCount val="5"/>
                <c:lvl>
                  <c:pt idx="0">
                    <c:v>Baseline</c:v>
                  </c:pt>
                  <c:pt idx="1">
                    <c:v>+ Omni &amp; text</c:v>
                  </c:pt>
                  <c:pt idx="2">
                    <c:v>Whisper L24+L32</c:v>
                  </c:pt>
                  <c:pt idx="3">
                    <c:v>+ augmentation</c:v>
                  </c:pt>
                  <c:pt idx="4">
                    <c:v>+ fusion head</c:v>
                  </c:pt>
                </c:lvl>
              </c:multiLvlStrCache>
            </c:multiLvlStrRef>
          </c:cat>
          <c:val>
            <c:numRef>
              <c:f>Sheet1!$B$2:$B$6</c:f>
              <c:numCache>
                <c:formatCode>General</c:formatCode>
                <c:ptCount val="5"/>
                <c:pt idx="0">
                  <c:v>0.891</c:v>
                </c:pt>
                <c:pt idx="1">
                  <c:v>0.911</c:v>
                </c:pt>
                <c:pt idx="2">
                  <c:v>0.916</c:v>
                </c:pt>
                <c:pt idx="3">
                  <c:v>0.923</c:v>
                </c:pt>
                <c:pt idx="4">
                  <c:v>0.93</c:v>
                </c:pt>
              </c:numCache>
            </c:numRef>
          </c:val>
        </c:ser>
        <c:dLbls>
          <c:numFmt formatCode="0.0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5E7EB"/>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0.94"/>
          <c:min val="0.87"/>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900" b="0" i="0" u="none" strike="noStrike">
                <a:solidFill>
                  <a:srgbClr val="475569"/>
                </a:solidFill>
                <a:latin typeface="+mn-lt"/>
              </a:defRPr>
            </a:pPr>
            <a:endParaRPr lang="en-US"/>
          </a:p>
        </c:txPr>
        <c:crossAx val="2094734554"/>
        <c:crosses val="autoZero"/>
        <c:crossBetween val="between"/>
        <c:majorUnit val="0.01"/>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Public</c:v>
                </c:pt>
              </c:strCache>
            </c:strRef>
          </c:tx>
          <c:spPr>
            <a:solidFill>
              <a:srgbClr val="64748B"/>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0"/>
            <c:showCatName val="0"/>
            <c:showSerName val="0"/>
            <c:showPercent val="0"/>
            <c:showBubbleSize val="0"/>
            <c:showLeaderLines val="0"/>
          </c:dLbls>
          <c:cat>
            <c:multiLvlStrRef>
              <c:f>Sheet1!$A$2:$A$7</c:f>
              <c:multiLvlStrCache>
                <c:ptCount val="6"/>
                <c:lvl>
                  <c:pt idx="0">
                    <c:v>First blend</c:v>
                  </c:pt>
                  <c:pt idx="1">
                    <c:v>+ Omni &amp; text</c:v>
                  </c:pt>
                  <c:pt idx="2">
                    <c:v>A′</c:v>
                  </c:pt>
                  <c:pt idx="3">
                    <c:v>A″ (pick)</c:v>
                  </c:pt>
                  <c:pt idx="4">
                    <c:v>A‴ (pick)</c:v>
                  </c:pt>
                  <c:pt idx="5">
                    <c:v>+ Gemma-4</c:v>
                  </c:pt>
                </c:lvl>
              </c:multiLvlStrCache>
            </c:multiLvlStrRef>
          </c:cat>
          <c:val>
            <c:numRef>
              <c:f>Sheet1!$B$2:$B$7</c:f>
              <c:numCache>
                <c:formatCode>General</c:formatCode>
                <c:ptCount val="6"/>
                <c:pt idx="0">
                  <c:v>0.917</c:v>
                </c:pt>
                <c:pt idx="1">
                  <c:v>0.931</c:v>
                </c:pt>
                <c:pt idx="2">
                  <c:v>0.942</c:v>
                </c:pt>
                <c:pt idx="3">
                  <c:v>0.942</c:v>
                </c:pt>
                <c:pt idx="4">
                  <c:v>0.942</c:v>
                </c:pt>
                <c:pt idx="5">
                  <c:v>0.93</c:v>
                </c:pt>
              </c:numCache>
            </c:numRef>
          </c:val>
        </c:ser>
        <c:ser>
          <c:idx val="1"/>
          <c:order val="1"/>
          <c:tx>
            <c:strRef>
              <c:f>Sheet1!$C$1</c:f>
              <c:strCache>
                <c:ptCount val="1"/>
                <c:pt idx="0">
                  <c:v>Private</c:v>
                </c:pt>
              </c:strCache>
            </c:strRef>
          </c:tx>
          <c:spPr>
            <a:solidFill>
              <a:srgbClr val="E8711A"/>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0"/>
            <c:showCatName val="0"/>
            <c:showSerName val="0"/>
            <c:showPercent val="0"/>
            <c:showBubbleSize val="0"/>
            <c:showLeaderLines val="0"/>
          </c:dLbls>
          <c:cat>
            <c:multiLvlStrRef>
              <c:f>Sheet1!$A$2:$A$7</c:f>
              <c:multiLvlStrCache>
                <c:ptCount val="6"/>
                <c:lvl>
                  <c:pt idx="0">
                    <c:v>First blend</c:v>
                  </c:pt>
                  <c:pt idx="1">
                    <c:v>+ Omni &amp; text</c:v>
                  </c:pt>
                  <c:pt idx="2">
                    <c:v>A′</c:v>
                  </c:pt>
                  <c:pt idx="3">
                    <c:v>A″ (pick)</c:v>
                  </c:pt>
                  <c:pt idx="4">
                    <c:v>A‴ (pick)</c:v>
                  </c:pt>
                  <c:pt idx="5">
                    <c:v>+ Gemma-4</c:v>
                  </c:pt>
                </c:lvl>
              </c:multiLvlStrCache>
            </c:multiLvlStrRef>
          </c:cat>
          <c:val>
            <c:numRef>
              <c:f>Sheet1!$C$2:$C$7</c:f>
              <c:numCache>
                <c:formatCode>General</c:formatCode>
                <c:ptCount val="6"/>
                <c:pt idx="0">
                  <c:v>0.888</c:v>
                </c:pt>
                <c:pt idx="1">
                  <c:v>0.936</c:v>
                </c:pt>
                <c:pt idx="2">
                  <c:v>0.927</c:v>
                </c:pt>
                <c:pt idx="3">
                  <c:v>0.943</c:v>
                </c:pt>
                <c:pt idx="4">
                  <c:v>0.935</c:v>
                </c:pt>
                <c:pt idx="5">
                  <c:v>0.952</c:v>
                </c:pt>
              </c:numCache>
            </c:numRef>
          </c:val>
        </c:ser>
        <c:dLbls>
          <c:numFmt formatCode="#,##0" sourceLinked="0"/>
          <c:txPr>
            <a:bodyPr/>
            <a:lstStyle/>
            <a:p>
              <a:pPr>
                <a:defRPr b="0" i="0" strike="noStrike" sz="1100" u="none">
                  <a:solidFill>
                    <a:srgbClr val="0F172A"/>
                  </a:solidFill>
                  <a:latin typeface="+mn-lt"/>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5E7EB"/>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0.96"/>
          <c:min val="0.86"/>
        </c:scaling>
        <c:delete val="0"/>
        <c:axPos val="l"/>
        <c:majorGridlines>
          <c:spPr>
            <a:ln w="6350" cap="flat">
              <a:solidFill>
                <a:srgbClr val="E5E7EB"/>
              </a:solidFill>
              <a:prstDash val="solid"/>
              <a:round/>
            </a:ln>
          </c:spPr>
        </c:majorGridlines>
        <c:numFmt formatCode="0.00" sourceLinked="0"/>
        <c:majorTickMark val="out"/>
        <c:minorTickMark val="none"/>
        <c:tickLblPos val="nextTo"/>
        <c:spPr>
          <a:ln w="12700" cap="flat">
            <a:noFill/>
            <a:prstDash val="solid"/>
            <a:round/>
          </a:ln>
        </c:spPr>
        <c:txPr>
          <a:bodyPr/>
          <a:lstStyle/>
          <a:p>
            <a:pPr>
              <a:defRPr sz="900" b="0" i="0" u="none" strike="noStrike">
                <a:solidFill>
                  <a:srgbClr val="475569"/>
                </a:solidFill>
                <a:latin typeface="+mn-lt"/>
              </a:defRPr>
            </a:pPr>
            <a:endParaRPr lang="en-US"/>
          </a:p>
        </c:txPr>
        <c:crossAx val="2094734554"/>
        <c:crosses val="autoZero"/>
        <c:crossBetween val="between"/>
        <c:majorUnit val="0.02"/>
      </c:valAx>
      <c:spPr>
        <a:noFill/>
        <a:ln>
          <a:noFill/>
        </a:ln>
        <a:effectLst/>
      </c:spPr>
    </c:plotArea>
    <c:legend>
      <c:legendPos val="t"/>
      <c:overlay val="0"/>
      <c:txPr>
        <a:bodyPr/>
        <a:lstStyle/>
        <a:p>
          <a:pPr>
            <a:defRPr sz="1000">
              <a:solidFill>
                <a:srgbClr val="47556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Ayush Kasare, presenting our 6th-place solution: a private macro-F1 of 0.943 among 51 teams.
Consider one sentence: "Main theek hoon." Delivered four ways, it is anger, happiness, sadness or neutrality. The words are identical; the emotion lives entirely in prosody and timing. Add Hindi, clips under three seconds and only 826 labelled examples, and the real risk is not underfitting. It is fooling yourself. [pause] So our thesis: the strongest solution is the one whose validation you can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define the solution. We diagnosed a leakage structure before training any model. We used large speech foundation models as frozen feature extractors with lightweight, regularised heads, because at this scale that beats fine-tuning. We built a six-member ensemble selected for error diversity, not individual accuracy. And we turned the dataset's duplication into a validated, rule-compliant post-processing step. Of roughly fifty pre-registered hypotheses, four were adopted.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analysis revealed many clips with identical durations: the same recordings re-encoded with added noise. Only 12 percent were byte-identical, so we detected the rest with duration matching plus cosine similarity in Whisper's embedding space.
About 30 percent of clips have a twin, 826 clips collapse into 689 recordings, and twins share their label 99.1 percent of the time. With roughly 125 private test clips, where one prediction is worth almost a point, that structure decides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random K-fold, a recording's twin leaks into validation and the model is rewarded for memorisation. The same model scores 0.930 under random folds and 0.891 under StratifiedGroupKFold, where each near-duplicate group stays in one fold: four points of pure leakage. Our first public score, 0.917, confirmed the grouped estimate. Every number from here on is leakage-free.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Grouped folds remove leakage, but not variance: CV moves about a point between reshuffles. So, much like a clinical trial, every experiment was specified before scoring, evaluated on three independent grouped splits, and adopted only if the mean gain exceeded 0.005 and was positive on every split. Four of fifty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is a six-member ensemble. Whisper large-v3 is the acoustic backbone. w2v-BERT 2.0 adds a multilingual view from its mid-network layers. Qwen2.5-Omni, a seven-billion-parameter audio LLM, contributes both hidden states and zero-shot label probabilities. A text member embeds Hindi transcripts, because repeated sentences keep their emotion 97 percent of the time. And a fusion head combines audio and text.
We average them with fixed weights: every learned combiner we tested overfit 826 samples. Here, simplicity is a statistical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Whisper's frozen encoder gives layers 24 and 32, pooled over valid frames, into a regularised probe. A non-obvious finding: Whisper expects 30-second windows, and short unpadded clips degrade its top layers from 0.916 to 0.833. Silence padding restores them. Augmented training views take this member to 0.902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most significant modelling contribution addresses a simple fact: emotional cues are temporally sparse, and mean pooling dilutes them. This head uses four-head attentive statistics pooling over Whisper frames, fused early with the transcript embedding. It became the strongest single model, at 0.916.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duplication that threatened validation becomes an asset at inference. 78 test clips have a verified training twin, so they inherit its label, given 99.1 percent agreement in training. It uses only competition training labels, never external labels of test records, and was validated on training data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progression, all leakage-free: a two-encoder baseline at 0.891; the audio LLM and text member, 0.911; multi-layer Whisper, 0.916; augmentation, 0.923; the fusion head, 0.930. Each step pre-registered and confirmed on three splits. The public board plateaued at 0.942: with 90 clips it could not resolve these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results matter as much. Fine-tuning Whisper on 660 clips degraded performance. English-trained emotion models did not transfer to Hindi. Zero-shot audio LLMs trailed supervised probes. And the central lesson: Gemma-4's audio encoder scored 0.855 alone yet weakened the ensemble, because it encoded what Whisper already knew. Diversity dominates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outcome: 0.943 private, 6th of 51. Candidly, a candidate we dropped for its public score reached 0.952 privately. With 90 and 125 clips, the leaderboards disagree by a few predictions either way, and first place is about two clips away: exactly the variance our protocol was built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"Main theek hoon." Telling those four deliveries apart did not require the largest model. It required diagnosing the data, validating without leakage, selecting for diversity, and letting pre-registered evidence make every decision. [pause] Thank you. The code and full experiment log, including every failed idea, are public on GitHub.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8046720" cy="1188720"/>
          </a:xfrm>
          <a:prstGeom prst="rect">
            <a:avLst/>
          </a:prstGeom>
          <a:noFill/>
          <a:ln/>
        </p:spPr>
        <p:txBody>
          <a:bodyPr wrap="square" rtlCol="0"/>
          <a:lstStyle>
            <a:lvl1pPr algn="l" indent="0" marL="0">
              <a:buNone/>
              <a:defRPr lang="en-US" sz="4000" b="1" dirty="0">
                <a:solidFill>
                  <a:srgbClr val="0F172A"/>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rtlCol="0"/>
          <a:lstStyle>
            <a:lvl1pPr algn="l" indent="0" marL="0">
              <a:buNone/>
              <a:defRPr lang="en-US" sz="2600" b="1" dirty="0">
                <a:solidFill>
                  <a:srgbClr val="0F172A"/>
                </a:solidFill>
              </a:defRPr>
            </a:lvl1pPr>
          </a:lstStyle>
          <a:p>
            <a:pPr algn="l" indent="0" marL="0">
              <a:buNone/>
            </a:pPr>
            <a:endParaRPr lang="en-US" sz="2600" dirty="0"/>
          </a:p>
        </p:txBody>
      </p:sp>
      <p:sp>
        <p:nvSpPr>
          <p:cNvPr id="3" name="Text 0"/>
          <p:cNvSpPr/>
          <p:nvPr/>
        </p:nvSpPr>
        <p:spPr>
          <a:xfrm>
            <a:off x="502920" y="4773168"/>
            <a:ext cx="7772400" cy="228600"/>
          </a:xfrm>
          <a:prstGeom prst="rect">
            <a:avLst/>
          </a:prstGeom>
          <a:noFill/>
          <a:ln/>
        </p:spPr>
        <p:txBody>
          <a:bodyPr wrap="square" lIns="0" tIns="0" rIns="0" bIns="0" rtlCol="0" anchor="ctr"/>
          <a:lstStyle/>
          <a:p>
            <a:pPr indent="0" marL="0">
              <a:buNone/>
            </a:pPr>
            <a:r>
              <a:rPr lang="en-US" sz="900" dirty="0">
                <a:solidFill>
                  <a:srgbClr val="475569"/>
                </a:solidFill>
              </a:rPr>
              <a:t>DataVerse 2026 · Hindi speech emotion recognition · Team Ayush Kasare · Viva Institute of Technology</a:t>
            </a:r>
            <a:endParaRPr lang="en-US" sz="9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9-1.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8046720" cy="274320"/>
          </a:xfrm>
          <a:prstGeom prst="rect">
            <a:avLst/>
          </a:prstGeom>
          <a:noFill/>
          <a:ln/>
        </p:spPr>
        <p:txBody>
          <a:bodyPr wrap="square" lIns="0" tIns="0" rIns="0" bIns="0" rtlCol="0" anchor="t"/>
          <a:lstStyle/>
          <a:p>
            <a:pPr indent="0" marL="0">
              <a:buNone/>
            </a:pPr>
            <a:r>
              <a:rPr lang="en-US" sz="1100" b="1" spc="200" kern="0" dirty="0">
                <a:solidFill>
                  <a:srgbClr val="E8711A"/>
                </a:solidFill>
                <a:latin typeface="Calibri" pitchFamily="34" charset="0"/>
                <a:ea typeface="Calibri" pitchFamily="34" charset="-122"/>
                <a:cs typeface="Calibri" pitchFamily="34" charset="-120"/>
              </a:rPr>
              <a:t>6TH PLACE · DATAVERSE 2026 · HOSTED BY SRCASW, UNIVERSITY OF DELHI</a:t>
            </a:r>
            <a:endParaRPr lang="en-US" sz="1100" dirty="0"/>
          </a:p>
        </p:txBody>
      </p:sp>
      <p:sp>
        <p:nvSpPr>
          <p:cNvPr id="3" name="Text 0"/>
          <p:cNvSpPr/>
          <p:nvPr>
            <p:ph idx="100" type="title" hasCustomPrompt="1"/>
          </p:nvPr>
        </p:nvSpPr>
        <p:spPr>
          <a:xfrm>
            <a:off x="548640" y="777240"/>
            <a:ext cx="8046720" cy="1188720"/>
          </a:xfrm>
          <a:prstGeom prst="rect">
            <a:avLst/>
          </a:prstGeom>
          <a:noFill/>
          <a:ln/>
        </p:spPr>
        <p:txBody>
          <a:bodyPr wrap="square" lIns="0" tIns="0" rIns="0" bIns="0" rtlCol="0" anchor="b"/>
          <a:lstStyle/>
          <a:p>
            <a:pPr algn="l" indent="0" marL="0">
              <a:buNone/>
            </a:pPr>
            <a:r>
              <a:rPr lang="en-US" sz="4000" b="1" dirty="0">
                <a:solidFill>
                  <a:srgbClr val="0F172A"/>
                </a:solidFill>
              </a:rPr>
              <a:t>Hearing emotion in Hindi speech</a:t>
            </a:r>
            <a:endParaRPr lang="en-US" sz="4000" dirty="0"/>
          </a:p>
        </p:txBody>
      </p:sp>
      <p:sp>
        <p:nvSpPr>
          <p:cNvPr id="4" name="Text 2"/>
          <p:cNvSpPr txBox="1"/>
          <p:nvPr/>
        </p:nvSpPr>
        <p:spPr>
          <a:xfrm>
            <a:off x="548640" y="2103120"/>
            <a:ext cx="8046720" cy="411480"/>
          </a:xfrm>
          <a:prstGeom prst="rect">
            <a:avLst/>
          </a:prstGeom>
          <a:noFill/>
          <a:ln/>
        </p:spPr>
        <p:txBody>
          <a:bodyPr wrap="square" lIns="0" tIns="0" rIns="0" bIns="0" rtlCol="0" anchor="t"/>
          <a:lstStyle/>
          <a:p>
            <a:pPr indent="0" marL="0">
              <a:buNone/>
            </a:pPr>
            <a:r>
              <a:rPr lang="en-US" sz="2100" b="1" dirty="0">
                <a:solidFill>
                  <a:srgbClr val="0F172A"/>
                </a:solidFill>
                <a:latin typeface="Cambria" pitchFamily="34" charset="0"/>
                <a:ea typeface="Cambria" pitchFamily="34" charset="-122"/>
                <a:cs typeface="Cambria" pitchFamily="34" charset="-120"/>
              </a:rPr>
              <a:t>Team Ayush Kasare</a:t>
            </a:r>
            <a:pPr indent="0" marL="0">
              <a:buNone/>
            </a:pPr>
            <a:r>
              <a:rPr lang="en-US" sz="2100" b="1" dirty="0">
                <a:solidFill>
                  <a:srgbClr val="475569"/>
                </a:solidFill>
                <a:latin typeface="Cambria" pitchFamily="34" charset="0"/>
                <a:ea typeface="Cambria" pitchFamily="34" charset="-122"/>
                <a:cs typeface="Cambria" pitchFamily="34" charset="-120"/>
              </a:rPr>
              <a:t>   |   </a:t>
            </a:r>
            <a:pPr indent="0" marL="0">
              <a:buNone/>
            </a:pPr>
            <a:r>
              <a:rPr lang="en-US" sz="2100" b="1" dirty="0">
                <a:solidFill>
                  <a:srgbClr val="E8711A"/>
                </a:solidFill>
                <a:latin typeface="Cambria" pitchFamily="34" charset="0"/>
                <a:ea typeface="Cambria" pitchFamily="34" charset="-122"/>
                <a:cs typeface="Cambria" pitchFamily="34" charset="-120"/>
              </a:rPr>
              <a:t>Viva Institute of Technology</a:t>
            </a:r>
            <a:endParaRPr lang="en-US" sz="2100" dirty="0"/>
          </a:p>
        </p:txBody>
      </p:sp>
      <p:sp>
        <p:nvSpPr>
          <p:cNvPr id="5" name="Text 3"/>
          <p:cNvSpPr txBox="1"/>
          <p:nvPr/>
        </p:nvSpPr>
        <p:spPr>
          <a:xfrm>
            <a:off x="548640" y="2578608"/>
            <a:ext cx="8046720" cy="3200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Frozen speech foundation models · leakage-free validation · a pre-registered protocol</a:t>
            </a:r>
            <a:endParaRPr lang="en-US" sz="1300" dirty="0"/>
          </a:p>
        </p:txBody>
      </p:sp>
      <p:sp>
        <p:nvSpPr>
          <p:cNvPr id="6" name="wave 0"/>
          <p:cNvSpPr/>
          <p:nvPr/>
        </p:nvSpPr>
        <p:spPr>
          <a:xfrm>
            <a:off x="548640" y="3257550"/>
            <a:ext cx="69152" cy="160020"/>
          </a:xfrm>
          <a:prstGeom prst="roundRect">
            <a:avLst>
              <a:gd name="adj" fmla="val 50000"/>
            </a:avLst>
          </a:prstGeom>
          <a:solidFill>
            <a:srgbClr val="E11D48"/>
          </a:solidFill>
          <a:ln/>
        </p:spPr>
      </p:sp>
      <p:sp>
        <p:nvSpPr>
          <p:cNvPr id="7" name="wave 1"/>
          <p:cNvSpPr/>
          <p:nvPr/>
        </p:nvSpPr>
        <p:spPr>
          <a:xfrm>
            <a:off x="674370" y="3225897"/>
            <a:ext cx="69152" cy="223326"/>
          </a:xfrm>
          <a:prstGeom prst="roundRect">
            <a:avLst>
              <a:gd name="adj" fmla="val 50000"/>
            </a:avLst>
          </a:prstGeom>
          <a:solidFill>
            <a:srgbClr val="E11D48"/>
          </a:solidFill>
          <a:ln/>
        </p:spPr>
      </p:sp>
      <p:sp>
        <p:nvSpPr>
          <p:cNvPr id="8" name="wave 2"/>
          <p:cNvSpPr/>
          <p:nvPr/>
        </p:nvSpPr>
        <p:spPr>
          <a:xfrm>
            <a:off x="800100" y="3245786"/>
            <a:ext cx="69152" cy="183547"/>
          </a:xfrm>
          <a:prstGeom prst="roundRect">
            <a:avLst>
              <a:gd name="adj" fmla="val 50000"/>
            </a:avLst>
          </a:prstGeom>
          <a:solidFill>
            <a:srgbClr val="E11D48"/>
          </a:solidFill>
          <a:ln/>
        </p:spPr>
      </p:sp>
      <p:sp>
        <p:nvSpPr>
          <p:cNvPr id="9" name="wave 3"/>
          <p:cNvSpPr/>
          <p:nvPr/>
        </p:nvSpPr>
        <p:spPr>
          <a:xfrm>
            <a:off x="925830" y="3245633"/>
            <a:ext cx="69152" cy="183853"/>
          </a:xfrm>
          <a:prstGeom prst="roundRect">
            <a:avLst>
              <a:gd name="adj" fmla="val 50000"/>
            </a:avLst>
          </a:prstGeom>
          <a:solidFill>
            <a:srgbClr val="E11D48"/>
          </a:solidFill>
          <a:ln/>
        </p:spPr>
      </p:sp>
      <p:sp>
        <p:nvSpPr>
          <p:cNvPr id="10" name="wave 4"/>
          <p:cNvSpPr/>
          <p:nvPr/>
        </p:nvSpPr>
        <p:spPr>
          <a:xfrm>
            <a:off x="1051560" y="3199602"/>
            <a:ext cx="69152" cy="275915"/>
          </a:xfrm>
          <a:prstGeom prst="roundRect">
            <a:avLst>
              <a:gd name="adj" fmla="val 50000"/>
            </a:avLst>
          </a:prstGeom>
          <a:solidFill>
            <a:srgbClr val="E11D48"/>
          </a:solidFill>
          <a:ln/>
        </p:spPr>
      </p:sp>
      <p:sp>
        <p:nvSpPr>
          <p:cNvPr id="11" name="wave 5"/>
          <p:cNvSpPr/>
          <p:nvPr/>
        </p:nvSpPr>
        <p:spPr>
          <a:xfrm>
            <a:off x="1177290" y="3188312"/>
            <a:ext cx="69152" cy="298495"/>
          </a:xfrm>
          <a:prstGeom prst="roundRect">
            <a:avLst>
              <a:gd name="adj" fmla="val 50000"/>
            </a:avLst>
          </a:prstGeom>
          <a:solidFill>
            <a:srgbClr val="E11D48"/>
          </a:solidFill>
          <a:ln/>
        </p:spPr>
      </p:sp>
      <p:sp>
        <p:nvSpPr>
          <p:cNvPr id="12" name="wave 6"/>
          <p:cNvSpPr/>
          <p:nvPr/>
        </p:nvSpPr>
        <p:spPr>
          <a:xfrm>
            <a:off x="1303020" y="3207349"/>
            <a:ext cx="69152" cy="260423"/>
          </a:xfrm>
          <a:prstGeom prst="roundRect">
            <a:avLst>
              <a:gd name="adj" fmla="val 50000"/>
            </a:avLst>
          </a:prstGeom>
          <a:solidFill>
            <a:srgbClr val="E11D48"/>
          </a:solidFill>
          <a:ln/>
        </p:spPr>
      </p:sp>
      <p:sp>
        <p:nvSpPr>
          <p:cNvPr id="13" name="wave 7"/>
          <p:cNvSpPr/>
          <p:nvPr/>
        </p:nvSpPr>
        <p:spPr>
          <a:xfrm>
            <a:off x="1428750" y="3183634"/>
            <a:ext cx="69152" cy="307853"/>
          </a:xfrm>
          <a:prstGeom prst="roundRect">
            <a:avLst>
              <a:gd name="adj" fmla="val 50000"/>
            </a:avLst>
          </a:prstGeom>
          <a:solidFill>
            <a:srgbClr val="E11D48"/>
          </a:solidFill>
          <a:ln/>
        </p:spPr>
      </p:sp>
      <p:sp>
        <p:nvSpPr>
          <p:cNvPr id="14" name="wave 8"/>
          <p:cNvSpPr/>
          <p:nvPr/>
        </p:nvSpPr>
        <p:spPr>
          <a:xfrm>
            <a:off x="1554480" y="3235869"/>
            <a:ext cx="69152" cy="203382"/>
          </a:xfrm>
          <a:prstGeom prst="roundRect">
            <a:avLst>
              <a:gd name="adj" fmla="val 50000"/>
            </a:avLst>
          </a:prstGeom>
          <a:solidFill>
            <a:srgbClr val="E11D48"/>
          </a:solidFill>
          <a:ln/>
        </p:spPr>
      </p:sp>
      <p:sp>
        <p:nvSpPr>
          <p:cNvPr id="15" name="wave 9"/>
          <p:cNvSpPr/>
          <p:nvPr/>
        </p:nvSpPr>
        <p:spPr>
          <a:xfrm>
            <a:off x="1680210" y="3234091"/>
            <a:ext cx="69152" cy="206937"/>
          </a:xfrm>
          <a:prstGeom prst="roundRect">
            <a:avLst>
              <a:gd name="adj" fmla="val 50000"/>
            </a:avLst>
          </a:prstGeom>
          <a:solidFill>
            <a:srgbClr val="E11D48"/>
          </a:solidFill>
          <a:ln/>
        </p:spPr>
      </p:sp>
      <p:sp>
        <p:nvSpPr>
          <p:cNvPr id="16" name="wave 10"/>
          <p:cNvSpPr/>
          <p:nvPr/>
        </p:nvSpPr>
        <p:spPr>
          <a:xfrm>
            <a:off x="1805940" y="3117275"/>
            <a:ext cx="69152" cy="440570"/>
          </a:xfrm>
          <a:prstGeom prst="roundRect">
            <a:avLst>
              <a:gd name="adj" fmla="val 50000"/>
            </a:avLst>
          </a:prstGeom>
          <a:solidFill>
            <a:srgbClr val="E11D48"/>
          </a:solidFill>
          <a:ln/>
        </p:spPr>
      </p:sp>
      <p:sp>
        <p:nvSpPr>
          <p:cNvPr id="17" name="wave 11"/>
          <p:cNvSpPr/>
          <p:nvPr/>
        </p:nvSpPr>
        <p:spPr>
          <a:xfrm>
            <a:off x="1931670" y="3214590"/>
            <a:ext cx="69152" cy="245940"/>
          </a:xfrm>
          <a:prstGeom prst="roundRect">
            <a:avLst>
              <a:gd name="adj" fmla="val 50000"/>
            </a:avLst>
          </a:prstGeom>
          <a:solidFill>
            <a:srgbClr val="E11D48"/>
          </a:solidFill>
          <a:ln/>
        </p:spPr>
      </p:sp>
      <p:sp>
        <p:nvSpPr>
          <p:cNvPr id="18" name="wave 12"/>
          <p:cNvSpPr/>
          <p:nvPr/>
        </p:nvSpPr>
        <p:spPr>
          <a:xfrm>
            <a:off x="2057400" y="3150286"/>
            <a:ext cx="69152" cy="374547"/>
          </a:xfrm>
          <a:prstGeom prst="roundRect">
            <a:avLst>
              <a:gd name="adj" fmla="val 50000"/>
            </a:avLst>
          </a:prstGeom>
          <a:solidFill>
            <a:srgbClr val="E11D48"/>
          </a:solidFill>
          <a:ln/>
        </p:spPr>
      </p:sp>
      <p:sp>
        <p:nvSpPr>
          <p:cNvPr id="19" name="wave 13"/>
          <p:cNvSpPr/>
          <p:nvPr/>
        </p:nvSpPr>
        <p:spPr>
          <a:xfrm>
            <a:off x="2183130" y="3228658"/>
            <a:ext cx="69152" cy="217804"/>
          </a:xfrm>
          <a:prstGeom prst="roundRect">
            <a:avLst>
              <a:gd name="adj" fmla="val 50000"/>
            </a:avLst>
          </a:prstGeom>
          <a:solidFill>
            <a:srgbClr val="E11D48"/>
          </a:solidFill>
          <a:ln/>
        </p:spPr>
      </p:sp>
      <p:sp>
        <p:nvSpPr>
          <p:cNvPr id="20" name="wave 14"/>
          <p:cNvSpPr/>
          <p:nvPr/>
        </p:nvSpPr>
        <p:spPr>
          <a:xfrm>
            <a:off x="2308860" y="3217014"/>
            <a:ext cx="69152" cy="241093"/>
          </a:xfrm>
          <a:prstGeom prst="roundRect">
            <a:avLst>
              <a:gd name="adj" fmla="val 50000"/>
            </a:avLst>
          </a:prstGeom>
          <a:solidFill>
            <a:srgbClr val="E11D48"/>
          </a:solidFill>
          <a:ln/>
        </p:spPr>
      </p:sp>
      <p:sp>
        <p:nvSpPr>
          <p:cNvPr id="21" name="wave 15"/>
          <p:cNvSpPr/>
          <p:nvPr/>
        </p:nvSpPr>
        <p:spPr>
          <a:xfrm>
            <a:off x="2434590" y="3140676"/>
            <a:ext cx="69152" cy="393768"/>
          </a:xfrm>
          <a:prstGeom prst="roundRect">
            <a:avLst>
              <a:gd name="adj" fmla="val 50000"/>
            </a:avLst>
          </a:prstGeom>
          <a:solidFill>
            <a:srgbClr val="E11D48"/>
          </a:solidFill>
          <a:ln/>
        </p:spPr>
      </p:sp>
      <p:sp>
        <p:nvSpPr>
          <p:cNvPr id="22" name="wave 16"/>
          <p:cNvSpPr/>
          <p:nvPr/>
        </p:nvSpPr>
        <p:spPr>
          <a:xfrm>
            <a:off x="2560320" y="3090265"/>
            <a:ext cx="69152" cy="494590"/>
          </a:xfrm>
          <a:prstGeom prst="roundRect">
            <a:avLst>
              <a:gd name="adj" fmla="val 50000"/>
            </a:avLst>
          </a:prstGeom>
          <a:solidFill>
            <a:srgbClr val="D97706"/>
          </a:solidFill>
          <a:ln/>
        </p:spPr>
      </p:sp>
      <p:sp>
        <p:nvSpPr>
          <p:cNvPr id="23" name="wave 17"/>
          <p:cNvSpPr/>
          <p:nvPr/>
        </p:nvSpPr>
        <p:spPr>
          <a:xfrm>
            <a:off x="2686050" y="3219143"/>
            <a:ext cx="69152" cy="236834"/>
          </a:xfrm>
          <a:prstGeom prst="roundRect">
            <a:avLst>
              <a:gd name="adj" fmla="val 50000"/>
            </a:avLst>
          </a:prstGeom>
          <a:solidFill>
            <a:srgbClr val="D97706"/>
          </a:solidFill>
          <a:ln/>
        </p:spPr>
      </p:sp>
      <p:sp>
        <p:nvSpPr>
          <p:cNvPr id="24" name="wave 18"/>
          <p:cNvSpPr/>
          <p:nvPr/>
        </p:nvSpPr>
        <p:spPr>
          <a:xfrm>
            <a:off x="2811780" y="3157531"/>
            <a:ext cx="69152" cy="360058"/>
          </a:xfrm>
          <a:prstGeom prst="roundRect">
            <a:avLst>
              <a:gd name="adj" fmla="val 50000"/>
            </a:avLst>
          </a:prstGeom>
          <a:solidFill>
            <a:srgbClr val="D97706"/>
          </a:solidFill>
          <a:ln/>
        </p:spPr>
      </p:sp>
      <p:sp>
        <p:nvSpPr>
          <p:cNvPr id="25" name="wave 19"/>
          <p:cNvSpPr/>
          <p:nvPr/>
        </p:nvSpPr>
        <p:spPr>
          <a:xfrm>
            <a:off x="2937510" y="3210218"/>
            <a:ext cx="69152" cy="254684"/>
          </a:xfrm>
          <a:prstGeom prst="roundRect">
            <a:avLst>
              <a:gd name="adj" fmla="val 50000"/>
            </a:avLst>
          </a:prstGeom>
          <a:solidFill>
            <a:srgbClr val="D97706"/>
          </a:solidFill>
          <a:ln/>
        </p:spPr>
      </p:sp>
      <p:sp>
        <p:nvSpPr>
          <p:cNvPr id="26" name="wave 20"/>
          <p:cNvSpPr/>
          <p:nvPr/>
        </p:nvSpPr>
        <p:spPr>
          <a:xfrm>
            <a:off x="3063240" y="3246381"/>
            <a:ext cx="69152" cy="182357"/>
          </a:xfrm>
          <a:prstGeom prst="roundRect">
            <a:avLst>
              <a:gd name="adj" fmla="val 50000"/>
            </a:avLst>
          </a:prstGeom>
          <a:solidFill>
            <a:srgbClr val="D97706"/>
          </a:solidFill>
          <a:ln/>
        </p:spPr>
      </p:sp>
      <p:sp>
        <p:nvSpPr>
          <p:cNvPr id="27" name="wave 21"/>
          <p:cNvSpPr/>
          <p:nvPr/>
        </p:nvSpPr>
        <p:spPr>
          <a:xfrm>
            <a:off x="3188970" y="3050095"/>
            <a:ext cx="69152" cy="574929"/>
          </a:xfrm>
          <a:prstGeom prst="roundRect">
            <a:avLst>
              <a:gd name="adj" fmla="val 50000"/>
            </a:avLst>
          </a:prstGeom>
          <a:solidFill>
            <a:srgbClr val="D97706"/>
          </a:solidFill>
          <a:ln/>
        </p:spPr>
      </p:sp>
      <p:sp>
        <p:nvSpPr>
          <p:cNvPr id="28" name="wave 22"/>
          <p:cNvSpPr/>
          <p:nvPr/>
        </p:nvSpPr>
        <p:spPr>
          <a:xfrm>
            <a:off x="3314700" y="3147505"/>
            <a:ext cx="69152" cy="380111"/>
          </a:xfrm>
          <a:prstGeom prst="roundRect">
            <a:avLst>
              <a:gd name="adj" fmla="val 50000"/>
            </a:avLst>
          </a:prstGeom>
          <a:solidFill>
            <a:srgbClr val="D97706"/>
          </a:solidFill>
          <a:ln/>
        </p:spPr>
      </p:sp>
      <p:sp>
        <p:nvSpPr>
          <p:cNvPr id="29" name="wave 23"/>
          <p:cNvSpPr/>
          <p:nvPr/>
        </p:nvSpPr>
        <p:spPr>
          <a:xfrm>
            <a:off x="3440430" y="3156662"/>
            <a:ext cx="69152" cy="361795"/>
          </a:xfrm>
          <a:prstGeom prst="roundRect">
            <a:avLst>
              <a:gd name="adj" fmla="val 50000"/>
            </a:avLst>
          </a:prstGeom>
          <a:solidFill>
            <a:srgbClr val="D97706"/>
          </a:solidFill>
          <a:ln/>
        </p:spPr>
      </p:sp>
      <p:sp>
        <p:nvSpPr>
          <p:cNvPr id="30" name="wave 24"/>
          <p:cNvSpPr/>
          <p:nvPr/>
        </p:nvSpPr>
        <p:spPr>
          <a:xfrm>
            <a:off x="3566160" y="3237862"/>
            <a:ext cx="69152" cy="199396"/>
          </a:xfrm>
          <a:prstGeom prst="roundRect">
            <a:avLst>
              <a:gd name="adj" fmla="val 50000"/>
            </a:avLst>
          </a:prstGeom>
          <a:solidFill>
            <a:srgbClr val="D97706"/>
          </a:solidFill>
          <a:ln/>
        </p:spPr>
      </p:sp>
      <p:sp>
        <p:nvSpPr>
          <p:cNvPr id="31" name="wave 25"/>
          <p:cNvSpPr/>
          <p:nvPr/>
        </p:nvSpPr>
        <p:spPr>
          <a:xfrm>
            <a:off x="3691890" y="3177353"/>
            <a:ext cx="69152" cy="320414"/>
          </a:xfrm>
          <a:prstGeom prst="roundRect">
            <a:avLst>
              <a:gd name="adj" fmla="val 50000"/>
            </a:avLst>
          </a:prstGeom>
          <a:solidFill>
            <a:srgbClr val="D97706"/>
          </a:solidFill>
          <a:ln/>
        </p:spPr>
      </p:sp>
      <p:sp>
        <p:nvSpPr>
          <p:cNvPr id="32" name="wave 26"/>
          <p:cNvSpPr/>
          <p:nvPr/>
        </p:nvSpPr>
        <p:spPr>
          <a:xfrm>
            <a:off x="3817620" y="3139227"/>
            <a:ext cx="69152" cy="396667"/>
          </a:xfrm>
          <a:prstGeom prst="roundRect">
            <a:avLst>
              <a:gd name="adj" fmla="val 50000"/>
            </a:avLst>
          </a:prstGeom>
          <a:solidFill>
            <a:srgbClr val="D97706"/>
          </a:solidFill>
          <a:ln/>
        </p:spPr>
      </p:sp>
      <p:sp>
        <p:nvSpPr>
          <p:cNvPr id="33" name="wave 27"/>
          <p:cNvSpPr/>
          <p:nvPr/>
        </p:nvSpPr>
        <p:spPr>
          <a:xfrm>
            <a:off x="3943350" y="3031008"/>
            <a:ext cx="69152" cy="613105"/>
          </a:xfrm>
          <a:prstGeom prst="roundRect">
            <a:avLst>
              <a:gd name="adj" fmla="val 50000"/>
            </a:avLst>
          </a:prstGeom>
          <a:solidFill>
            <a:srgbClr val="D97706"/>
          </a:solidFill>
          <a:ln/>
        </p:spPr>
      </p:sp>
      <p:sp>
        <p:nvSpPr>
          <p:cNvPr id="34" name="wave 28"/>
          <p:cNvSpPr/>
          <p:nvPr/>
        </p:nvSpPr>
        <p:spPr>
          <a:xfrm>
            <a:off x="4069080" y="3250365"/>
            <a:ext cx="69152" cy="174390"/>
          </a:xfrm>
          <a:prstGeom prst="roundRect">
            <a:avLst>
              <a:gd name="adj" fmla="val 50000"/>
            </a:avLst>
          </a:prstGeom>
          <a:solidFill>
            <a:srgbClr val="D97706"/>
          </a:solidFill>
          <a:ln/>
        </p:spPr>
      </p:sp>
      <p:sp>
        <p:nvSpPr>
          <p:cNvPr id="35" name="wave 29"/>
          <p:cNvSpPr/>
          <p:nvPr/>
        </p:nvSpPr>
        <p:spPr>
          <a:xfrm>
            <a:off x="4194810" y="3171359"/>
            <a:ext cx="69152" cy="332402"/>
          </a:xfrm>
          <a:prstGeom prst="roundRect">
            <a:avLst>
              <a:gd name="adj" fmla="val 50000"/>
            </a:avLst>
          </a:prstGeom>
          <a:solidFill>
            <a:srgbClr val="D97706"/>
          </a:solidFill>
          <a:ln/>
        </p:spPr>
      </p:sp>
      <p:sp>
        <p:nvSpPr>
          <p:cNvPr id="36" name="wave 30"/>
          <p:cNvSpPr/>
          <p:nvPr/>
        </p:nvSpPr>
        <p:spPr>
          <a:xfrm>
            <a:off x="4320540" y="3179481"/>
            <a:ext cx="69152" cy="316158"/>
          </a:xfrm>
          <a:prstGeom prst="roundRect">
            <a:avLst>
              <a:gd name="adj" fmla="val 50000"/>
            </a:avLst>
          </a:prstGeom>
          <a:solidFill>
            <a:srgbClr val="D97706"/>
          </a:solidFill>
          <a:ln/>
        </p:spPr>
      </p:sp>
      <p:sp>
        <p:nvSpPr>
          <p:cNvPr id="37" name="wave 31"/>
          <p:cNvSpPr/>
          <p:nvPr/>
        </p:nvSpPr>
        <p:spPr>
          <a:xfrm>
            <a:off x="4446270" y="3227455"/>
            <a:ext cx="69152" cy="220209"/>
          </a:xfrm>
          <a:prstGeom prst="roundRect">
            <a:avLst>
              <a:gd name="adj" fmla="val 50000"/>
            </a:avLst>
          </a:prstGeom>
          <a:solidFill>
            <a:srgbClr val="D97706"/>
          </a:solidFill>
          <a:ln/>
        </p:spPr>
      </p:sp>
      <p:sp>
        <p:nvSpPr>
          <p:cNvPr id="38" name="wave 32"/>
          <p:cNvSpPr/>
          <p:nvPr/>
        </p:nvSpPr>
        <p:spPr>
          <a:xfrm>
            <a:off x="4572000" y="3045781"/>
            <a:ext cx="69152" cy="583559"/>
          </a:xfrm>
          <a:prstGeom prst="roundRect">
            <a:avLst>
              <a:gd name="adj" fmla="val 50000"/>
            </a:avLst>
          </a:prstGeom>
          <a:solidFill>
            <a:srgbClr val="64748B"/>
          </a:solidFill>
          <a:ln/>
        </p:spPr>
      </p:sp>
      <p:sp>
        <p:nvSpPr>
          <p:cNvPr id="39" name="wave 33"/>
          <p:cNvSpPr/>
          <p:nvPr/>
        </p:nvSpPr>
        <p:spPr>
          <a:xfrm>
            <a:off x="4697730" y="3101465"/>
            <a:ext cx="69152" cy="472191"/>
          </a:xfrm>
          <a:prstGeom prst="roundRect">
            <a:avLst>
              <a:gd name="adj" fmla="val 50000"/>
            </a:avLst>
          </a:prstGeom>
          <a:solidFill>
            <a:srgbClr val="64748B"/>
          </a:solidFill>
          <a:ln/>
        </p:spPr>
      </p:sp>
      <p:sp>
        <p:nvSpPr>
          <p:cNvPr id="40" name="wave 34"/>
          <p:cNvSpPr/>
          <p:nvPr/>
        </p:nvSpPr>
        <p:spPr>
          <a:xfrm>
            <a:off x="4823460" y="3191948"/>
            <a:ext cx="69152" cy="291225"/>
          </a:xfrm>
          <a:prstGeom prst="roundRect">
            <a:avLst>
              <a:gd name="adj" fmla="val 50000"/>
            </a:avLst>
          </a:prstGeom>
          <a:solidFill>
            <a:srgbClr val="64748B"/>
          </a:solidFill>
          <a:ln/>
        </p:spPr>
      </p:sp>
      <p:sp>
        <p:nvSpPr>
          <p:cNvPr id="41" name="wave 35"/>
          <p:cNvSpPr/>
          <p:nvPr/>
        </p:nvSpPr>
        <p:spPr>
          <a:xfrm>
            <a:off x="4949190" y="3256463"/>
            <a:ext cx="69152" cy="162194"/>
          </a:xfrm>
          <a:prstGeom prst="roundRect">
            <a:avLst>
              <a:gd name="adj" fmla="val 50000"/>
            </a:avLst>
          </a:prstGeom>
          <a:solidFill>
            <a:srgbClr val="64748B"/>
          </a:solidFill>
          <a:ln/>
        </p:spPr>
      </p:sp>
      <p:sp>
        <p:nvSpPr>
          <p:cNvPr id="42" name="wave 36"/>
          <p:cNvSpPr/>
          <p:nvPr/>
        </p:nvSpPr>
        <p:spPr>
          <a:xfrm>
            <a:off x="5074920" y="3137572"/>
            <a:ext cx="69152" cy="399975"/>
          </a:xfrm>
          <a:prstGeom prst="roundRect">
            <a:avLst>
              <a:gd name="adj" fmla="val 50000"/>
            </a:avLst>
          </a:prstGeom>
          <a:solidFill>
            <a:srgbClr val="64748B"/>
          </a:solidFill>
          <a:ln/>
        </p:spPr>
      </p:sp>
      <p:sp>
        <p:nvSpPr>
          <p:cNvPr id="43" name="wave 37"/>
          <p:cNvSpPr/>
          <p:nvPr/>
        </p:nvSpPr>
        <p:spPr>
          <a:xfrm>
            <a:off x="5200650" y="3183284"/>
            <a:ext cx="69152" cy="308551"/>
          </a:xfrm>
          <a:prstGeom prst="roundRect">
            <a:avLst>
              <a:gd name="adj" fmla="val 50000"/>
            </a:avLst>
          </a:prstGeom>
          <a:solidFill>
            <a:srgbClr val="64748B"/>
          </a:solidFill>
          <a:ln/>
        </p:spPr>
      </p:sp>
      <p:sp>
        <p:nvSpPr>
          <p:cNvPr id="44" name="wave 38"/>
          <p:cNvSpPr/>
          <p:nvPr/>
        </p:nvSpPr>
        <p:spPr>
          <a:xfrm>
            <a:off x="5326380" y="3031437"/>
            <a:ext cx="69152" cy="612246"/>
          </a:xfrm>
          <a:prstGeom prst="roundRect">
            <a:avLst>
              <a:gd name="adj" fmla="val 50000"/>
            </a:avLst>
          </a:prstGeom>
          <a:solidFill>
            <a:srgbClr val="64748B"/>
          </a:solidFill>
          <a:ln/>
        </p:spPr>
      </p:sp>
      <p:sp>
        <p:nvSpPr>
          <p:cNvPr id="45" name="wave 39"/>
          <p:cNvSpPr/>
          <p:nvPr/>
        </p:nvSpPr>
        <p:spPr>
          <a:xfrm>
            <a:off x="5452110" y="3212683"/>
            <a:ext cx="69152" cy="249754"/>
          </a:xfrm>
          <a:prstGeom prst="roundRect">
            <a:avLst>
              <a:gd name="adj" fmla="val 50000"/>
            </a:avLst>
          </a:prstGeom>
          <a:solidFill>
            <a:srgbClr val="64748B"/>
          </a:solidFill>
          <a:ln/>
        </p:spPr>
      </p:sp>
      <p:sp>
        <p:nvSpPr>
          <p:cNvPr id="46" name="wave 40"/>
          <p:cNvSpPr/>
          <p:nvPr/>
        </p:nvSpPr>
        <p:spPr>
          <a:xfrm>
            <a:off x="5577840" y="3199813"/>
            <a:ext cx="69152" cy="275494"/>
          </a:xfrm>
          <a:prstGeom prst="roundRect">
            <a:avLst>
              <a:gd name="adj" fmla="val 50000"/>
            </a:avLst>
          </a:prstGeom>
          <a:solidFill>
            <a:srgbClr val="64748B"/>
          </a:solidFill>
          <a:ln/>
        </p:spPr>
      </p:sp>
      <p:sp>
        <p:nvSpPr>
          <p:cNvPr id="47" name="wave 41"/>
          <p:cNvSpPr/>
          <p:nvPr/>
        </p:nvSpPr>
        <p:spPr>
          <a:xfrm>
            <a:off x="5703570" y="3160291"/>
            <a:ext cx="69152" cy="354537"/>
          </a:xfrm>
          <a:prstGeom prst="roundRect">
            <a:avLst>
              <a:gd name="adj" fmla="val 50000"/>
            </a:avLst>
          </a:prstGeom>
          <a:solidFill>
            <a:srgbClr val="64748B"/>
          </a:solidFill>
          <a:ln/>
        </p:spPr>
      </p:sp>
      <p:sp>
        <p:nvSpPr>
          <p:cNvPr id="48" name="wave 42"/>
          <p:cNvSpPr/>
          <p:nvPr/>
        </p:nvSpPr>
        <p:spPr>
          <a:xfrm>
            <a:off x="5829300" y="3181117"/>
            <a:ext cx="69152" cy="312886"/>
          </a:xfrm>
          <a:prstGeom prst="roundRect">
            <a:avLst>
              <a:gd name="adj" fmla="val 50000"/>
            </a:avLst>
          </a:prstGeom>
          <a:solidFill>
            <a:srgbClr val="64748B"/>
          </a:solidFill>
          <a:ln/>
        </p:spPr>
      </p:sp>
      <p:sp>
        <p:nvSpPr>
          <p:cNvPr id="49" name="wave 43"/>
          <p:cNvSpPr/>
          <p:nvPr/>
        </p:nvSpPr>
        <p:spPr>
          <a:xfrm>
            <a:off x="5955030" y="3098701"/>
            <a:ext cx="69152" cy="477717"/>
          </a:xfrm>
          <a:prstGeom prst="roundRect">
            <a:avLst>
              <a:gd name="adj" fmla="val 50000"/>
            </a:avLst>
          </a:prstGeom>
          <a:solidFill>
            <a:srgbClr val="64748B"/>
          </a:solidFill>
          <a:ln/>
        </p:spPr>
      </p:sp>
      <p:sp>
        <p:nvSpPr>
          <p:cNvPr id="50" name="wave 44"/>
          <p:cNvSpPr/>
          <p:nvPr/>
        </p:nvSpPr>
        <p:spPr>
          <a:xfrm>
            <a:off x="6080760" y="3103710"/>
            <a:ext cx="69152" cy="467699"/>
          </a:xfrm>
          <a:prstGeom prst="roundRect">
            <a:avLst>
              <a:gd name="adj" fmla="val 50000"/>
            </a:avLst>
          </a:prstGeom>
          <a:solidFill>
            <a:srgbClr val="64748B"/>
          </a:solidFill>
          <a:ln/>
        </p:spPr>
      </p:sp>
      <p:sp>
        <p:nvSpPr>
          <p:cNvPr id="51" name="wave 45"/>
          <p:cNvSpPr/>
          <p:nvPr/>
        </p:nvSpPr>
        <p:spPr>
          <a:xfrm>
            <a:off x="6206490" y="3226139"/>
            <a:ext cx="69152" cy="222842"/>
          </a:xfrm>
          <a:prstGeom prst="roundRect">
            <a:avLst>
              <a:gd name="adj" fmla="val 50000"/>
            </a:avLst>
          </a:prstGeom>
          <a:solidFill>
            <a:srgbClr val="64748B"/>
          </a:solidFill>
          <a:ln/>
        </p:spPr>
      </p:sp>
      <p:sp>
        <p:nvSpPr>
          <p:cNvPr id="52" name="wave 46"/>
          <p:cNvSpPr/>
          <p:nvPr/>
        </p:nvSpPr>
        <p:spPr>
          <a:xfrm>
            <a:off x="6332220" y="3242714"/>
            <a:ext cx="69152" cy="189693"/>
          </a:xfrm>
          <a:prstGeom prst="roundRect">
            <a:avLst>
              <a:gd name="adj" fmla="val 50000"/>
            </a:avLst>
          </a:prstGeom>
          <a:solidFill>
            <a:srgbClr val="64748B"/>
          </a:solidFill>
          <a:ln/>
        </p:spPr>
      </p:sp>
      <p:sp>
        <p:nvSpPr>
          <p:cNvPr id="53" name="wave 47"/>
          <p:cNvSpPr/>
          <p:nvPr/>
        </p:nvSpPr>
        <p:spPr>
          <a:xfrm>
            <a:off x="6457950" y="3124953"/>
            <a:ext cx="69152" cy="425215"/>
          </a:xfrm>
          <a:prstGeom prst="roundRect">
            <a:avLst>
              <a:gd name="adj" fmla="val 50000"/>
            </a:avLst>
          </a:prstGeom>
          <a:solidFill>
            <a:srgbClr val="64748B"/>
          </a:solidFill>
          <a:ln/>
        </p:spPr>
      </p:sp>
      <p:sp>
        <p:nvSpPr>
          <p:cNvPr id="54" name="wave 48"/>
          <p:cNvSpPr/>
          <p:nvPr/>
        </p:nvSpPr>
        <p:spPr>
          <a:xfrm>
            <a:off x="6583680" y="3243800"/>
            <a:ext cx="69152" cy="187520"/>
          </a:xfrm>
          <a:prstGeom prst="roundRect">
            <a:avLst>
              <a:gd name="adj" fmla="val 50000"/>
            </a:avLst>
          </a:prstGeom>
          <a:solidFill>
            <a:srgbClr val="2563EB"/>
          </a:solidFill>
          <a:ln/>
        </p:spPr>
      </p:sp>
      <p:sp>
        <p:nvSpPr>
          <p:cNvPr id="55" name="wave 49"/>
          <p:cNvSpPr/>
          <p:nvPr/>
        </p:nvSpPr>
        <p:spPr>
          <a:xfrm>
            <a:off x="6709410" y="3092496"/>
            <a:ext cx="69152" cy="490129"/>
          </a:xfrm>
          <a:prstGeom prst="roundRect">
            <a:avLst>
              <a:gd name="adj" fmla="val 50000"/>
            </a:avLst>
          </a:prstGeom>
          <a:solidFill>
            <a:srgbClr val="2563EB"/>
          </a:solidFill>
          <a:ln/>
        </p:spPr>
      </p:sp>
      <p:sp>
        <p:nvSpPr>
          <p:cNvPr id="56" name="wave 50"/>
          <p:cNvSpPr/>
          <p:nvPr/>
        </p:nvSpPr>
        <p:spPr>
          <a:xfrm>
            <a:off x="6835140" y="3206814"/>
            <a:ext cx="69152" cy="261492"/>
          </a:xfrm>
          <a:prstGeom prst="roundRect">
            <a:avLst>
              <a:gd name="adj" fmla="val 50000"/>
            </a:avLst>
          </a:prstGeom>
          <a:solidFill>
            <a:srgbClr val="2563EB"/>
          </a:solidFill>
          <a:ln/>
        </p:spPr>
      </p:sp>
      <p:sp>
        <p:nvSpPr>
          <p:cNvPr id="57" name="wave 51"/>
          <p:cNvSpPr/>
          <p:nvPr/>
        </p:nvSpPr>
        <p:spPr>
          <a:xfrm>
            <a:off x="6960870" y="3224683"/>
            <a:ext cx="69152" cy="225755"/>
          </a:xfrm>
          <a:prstGeom prst="roundRect">
            <a:avLst>
              <a:gd name="adj" fmla="val 50000"/>
            </a:avLst>
          </a:prstGeom>
          <a:solidFill>
            <a:srgbClr val="2563EB"/>
          </a:solidFill>
          <a:ln/>
        </p:spPr>
      </p:sp>
      <p:sp>
        <p:nvSpPr>
          <p:cNvPr id="58" name="wave 52"/>
          <p:cNvSpPr/>
          <p:nvPr/>
        </p:nvSpPr>
        <p:spPr>
          <a:xfrm>
            <a:off x="7086600" y="3173896"/>
            <a:ext cx="69152" cy="327328"/>
          </a:xfrm>
          <a:prstGeom prst="roundRect">
            <a:avLst>
              <a:gd name="adj" fmla="val 50000"/>
            </a:avLst>
          </a:prstGeom>
          <a:solidFill>
            <a:srgbClr val="2563EB"/>
          </a:solidFill>
          <a:ln/>
        </p:spPr>
      </p:sp>
      <p:sp>
        <p:nvSpPr>
          <p:cNvPr id="59" name="wave 53"/>
          <p:cNvSpPr/>
          <p:nvPr/>
        </p:nvSpPr>
        <p:spPr>
          <a:xfrm>
            <a:off x="7212330" y="3168089"/>
            <a:ext cx="69152" cy="338942"/>
          </a:xfrm>
          <a:prstGeom prst="roundRect">
            <a:avLst>
              <a:gd name="adj" fmla="val 50000"/>
            </a:avLst>
          </a:prstGeom>
          <a:solidFill>
            <a:srgbClr val="2563EB"/>
          </a:solidFill>
          <a:ln/>
        </p:spPr>
      </p:sp>
      <p:sp>
        <p:nvSpPr>
          <p:cNvPr id="60" name="wave 54"/>
          <p:cNvSpPr/>
          <p:nvPr/>
        </p:nvSpPr>
        <p:spPr>
          <a:xfrm>
            <a:off x="7338060" y="3182035"/>
            <a:ext cx="69152" cy="311051"/>
          </a:xfrm>
          <a:prstGeom prst="roundRect">
            <a:avLst>
              <a:gd name="adj" fmla="val 50000"/>
            </a:avLst>
          </a:prstGeom>
          <a:solidFill>
            <a:srgbClr val="2563EB"/>
          </a:solidFill>
          <a:ln/>
        </p:spPr>
      </p:sp>
      <p:sp>
        <p:nvSpPr>
          <p:cNvPr id="61" name="wave 55"/>
          <p:cNvSpPr/>
          <p:nvPr/>
        </p:nvSpPr>
        <p:spPr>
          <a:xfrm>
            <a:off x="7463790" y="3160212"/>
            <a:ext cx="69152" cy="354695"/>
          </a:xfrm>
          <a:prstGeom prst="roundRect">
            <a:avLst>
              <a:gd name="adj" fmla="val 50000"/>
            </a:avLst>
          </a:prstGeom>
          <a:solidFill>
            <a:srgbClr val="2563EB"/>
          </a:solidFill>
          <a:ln/>
        </p:spPr>
      </p:sp>
      <p:sp>
        <p:nvSpPr>
          <p:cNvPr id="62" name="wave 56"/>
          <p:cNvSpPr/>
          <p:nvPr/>
        </p:nvSpPr>
        <p:spPr>
          <a:xfrm>
            <a:off x="7589520" y="3245664"/>
            <a:ext cx="69152" cy="183792"/>
          </a:xfrm>
          <a:prstGeom prst="roundRect">
            <a:avLst>
              <a:gd name="adj" fmla="val 50000"/>
            </a:avLst>
          </a:prstGeom>
          <a:solidFill>
            <a:srgbClr val="2563EB"/>
          </a:solidFill>
          <a:ln/>
        </p:spPr>
      </p:sp>
      <p:sp>
        <p:nvSpPr>
          <p:cNvPr id="63" name="wave 57"/>
          <p:cNvSpPr/>
          <p:nvPr/>
        </p:nvSpPr>
        <p:spPr>
          <a:xfrm>
            <a:off x="7715250" y="3246983"/>
            <a:ext cx="69152" cy="181154"/>
          </a:xfrm>
          <a:prstGeom prst="roundRect">
            <a:avLst>
              <a:gd name="adj" fmla="val 50000"/>
            </a:avLst>
          </a:prstGeom>
          <a:solidFill>
            <a:srgbClr val="2563EB"/>
          </a:solidFill>
          <a:ln/>
        </p:spPr>
      </p:sp>
      <p:sp>
        <p:nvSpPr>
          <p:cNvPr id="64" name="wave 58"/>
          <p:cNvSpPr/>
          <p:nvPr/>
        </p:nvSpPr>
        <p:spPr>
          <a:xfrm>
            <a:off x="7840980" y="3173401"/>
            <a:ext cx="69152" cy="328319"/>
          </a:xfrm>
          <a:prstGeom prst="roundRect">
            <a:avLst>
              <a:gd name="adj" fmla="val 50000"/>
            </a:avLst>
          </a:prstGeom>
          <a:solidFill>
            <a:srgbClr val="2563EB"/>
          </a:solidFill>
          <a:ln/>
        </p:spPr>
      </p:sp>
      <p:sp>
        <p:nvSpPr>
          <p:cNvPr id="65" name="wave 59"/>
          <p:cNvSpPr/>
          <p:nvPr/>
        </p:nvSpPr>
        <p:spPr>
          <a:xfrm>
            <a:off x="7966710" y="3239782"/>
            <a:ext cx="69152" cy="195556"/>
          </a:xfrm>
          <a:prstGeom prst="roundRect">
            <a:avLst>
              <a:gd name="adj" fmla="val 50000"/>
            </a:avLst>
          </a:prstGeom>
          <a:solidFill>
            <a:srgbClr val="2563EB"/>
          </a:solidFill>
          <a:ln/>
        </p:spPr>
      </p:sp>
      <p:sp>
        <p:nvSpPr>
          <p:cNvPr id="66" name="wave 60"/>
          <p:cNvSpPr/>
          <p:nvPr/>
        </p:nvSpPr>
        <p:spPr>
          <a:xfrm>
            <a:off x="8092440" y="3200344"/>
            <a:ext cx="69152" cy="274432"/>
          </a:xfrm>
          <a:prstGeom prst="roundRect">
            <a:avLst>
              <a:gd name="adj" fmla="val 50000"/>
            </a:avLst>
          </a:prstGeom>
          <a:solidFill>
            <a:srgbClr val="2563EB"/>
          </a:solidFill>
          <a:ln/>
        </p:spPr>
      </p:sp>
      <p:sp>
        <p:nvSpPr>
          <p:cNvPr id="67" name="wave 61"/>
          <p:cNvSpPr/>
          <p:nvPr/>
        </p:nvSpPr>
        <p:spPr>
          <a:xfrm>
            <a:off x="8218170" y="3239489"/>
            <a:ext cx="69152" cy="196142"/>
          </a:xfrm>
          <a:prstGeom prst="roundRect">
            <a:avLst>
              <a:gd name="adj" fmla="val 50000"/>
            </a:avLst>
          </a:prstGeom>
          <a:solidFill>
            <a:srgbClr val="2563EB"/>
          </a:solidFill>
          <a:ln/>
        </p:spPr>
      </p:sp>
      <p:sp>
        <p:nvSpPr>
          <p:cNvPr id="68" name="wave 62"/>
          <p:cNvSpPr/>
          <p:nvPr/>
        </p:nvSpPr>
        <p:spPr>
          <a:xfrm>
            <a:off x="8343900" y="3249773"/>
            <a:ext cx="69152" cy="175573"/>
          </a:xfrm>
          <a:prstGeom prst="roundRect">
            <a:avLst>
              <a:gd name="adj" fmla="val 50000"/>
            </a:avLst>
          </a:prstGeom>
          <a:solidFill>
            <a:srgbClr val="2563EB"/>
          </a:solidFill>
          <a:ln/>
        </p:spPr>
      </p:sp>
      <p:sp>
        <p:nvSpPr>
          <p:cNvPr id="69" name="wave 63"/>
          <p:cNvSpPr/>
          <p:nvPr/>
        </p:nvSpPr>
        <p:spPr>
          <a:xfrm>
            <a:off x="8469630" y="3257550"/>
            <a:ext cx="69152" cy="160020"/>
          </a:xfrm>
          <a:prstGeom prst="roundRect">
            <a:avLst>
              <a:gd name="adj" fmla="val 50000"/>
            </a:avLst>
          </a:prstGeom>
          <a:solidFill>
            <a:srgbClr val="2563EB"/>
          </a:solidFill>
          <a:ln/>
        </p:spPr>
      </p:sp>
      <p:sp>
        <p:nvSpPr>
          <p:cNvPr id="70" name="Text 68"/>
          <p:cNvSpPr txBox="1"/>
          <p:nvPr/>
        </p:nvSpPr>
        <p:spPr>
          <a:xfrm>
            <a:off x="548640" y="3840480"/>
            <a:ext cx="2560320" cy="457200"/>
          </a:xfrm>
          <a:prstGeom prst="rect">
            <a:avLst/>
          </a:prstGeom>
          <a:noFill/>
          <a:ln/>
        </p:spPr>
        <p:txBody>
          <a:bodyPr wrap="square" lIns="0" tIns="0" rIns="0" bIns="0" rtlCol="0" anchor="t"/>
          <a:lstStyle/>
          <a:p>
            <a:pPr indent="0" marL="0">
              <a:buNone/>
            </a:pPr>
            <a:r>
              <a:rPr lang="en-US" sz="2600" b="1" dirty="0">
                <a:solidFill>
                  <a:srgbClr val="E8711A"/>
                </a:solidFill>
                <a:latin typeface="Cambria" pitchFamily="34" charset="0"/>
                <a:ea typeface="Cambria" pitchFamily="34" charset="-122"/>
                <a:cs typeface="Cambria" pitchFamily="34" charset="-120"/>
              </a:rPr>
              <a:t>0.9434</a:t>
            </a:r>
            <a:endParaRPr lang="en-US" sz="2600" dirty="0"/>
          </a:p>
        </p:txBody>
      </p:sp>
      <p:sp>
        <p:nvSpPr>
          <p:cNvPr id="71" name="Text 69"/>
          <p:cNvSpPr txBox="1"/>
          <p:nvPr/>
        </p:nvSpPr>
        <p:spPr>
          <a:xfrm>
            <a:off x="548640" y="4297680"/>
            <a:ext cx="2560320" cy="27432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private macro-F1</a:t>
            </a:r>
            <a:endParaRPr lang="en-US" sz="1100" dirty="0"/>
          </a:p>
        </p:txBody>
      </p:sp>
      <p:sp>
        <p:nvSpPr>
          <p:cNvPr id="72" name="Text 70"/>
          <p:cNvSpPr txBox="1"/>
          <p:nvPr/>
        </p:nvSpPr>
        <p:spPr>
          <a:xfrm>
            <a:off x="3291840" y="3840480"/>
            <a:ext cx="2560320" cy="457200"/>
          </a:xfrm>
          <a:prstGeom prst="rect">
            <a:avLst/>
          </a:prstGeom>
          <a:noFill/>
          <a:ln/>
        </p:spPr>
        <p:txBody>
          <a:bodyPr wrap="square" lIns="0" tIns="0" rIns="0" bIns="0" rtlCol="0" anchor="t"/>
          <a:lstStyle/>
          <a:p>
            <a:pPr indent="0" marL="0">
              <a:buNone/>
            </a:pPr>
            <a:r>
              <a:rPr lang="en-US" sz="2600" b="1" dirty="0">
                <a:solidFill>
                  <a:srgbClr val="0F172A"/>
                </a:solidFill>
                <a:latin typeface="Cambria" pitchFamily="34" charset="0"/>
                <a:ea typeface="Cambria" pitchFamily="34" charset="-122"/>
                <a:cs typeface="Cambria" pitchFamily="34" charset="-120"/>
              </a:rPr>
              <a:t>6 / 51</a:t>
            </a:r>
            <a:endParaRPr lang="en-US" sz="2600" dirty="0"/>
          </a:p>
        </p:txBody>
      </p:sp>
      <p:sp>
        <p:nvSpPr>
          <p:cNvPr id="73" name="Text 71"/>
          <p:cNvSpPr txBox="1"/>
          <p:nvPr/>
        </p:nvSpPr>
        <p:spPr>
          <a:xfrm>
            <a:off x="3291840" y="4297680"/>
            <a:ext cx="2560320" cy="27432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final rank</a:t>
            </a:r>
            <a:endParaRPr lang="en-US" sz="1100" dirty="0"/>
          </a:p>
        </p:txBody>
      </p:sp>
      <p:sp>
        <p:nvSpPr>
          <p:cNvPr id="74" name="Text 72"/>
          <p:cNvSpPr txBox="1"/>
          <p:nvPr/>
        </p:nvSpPr>
        <p:spPr>
          <a:xfrm>
            <a:off x="6035040" y="3840480"/>
            <a:ext cx="2560320" cy="457200"/>
          </a:xfrm>
          <a:prstGeom prst="rect">
            <a:avLst/>
          </a:prstGeom>
          <a:noFill/>
          <a:ln/>
        </p:spPr>
        <p:txBody>
          <a:bodyPr wrap="square" lIns="0" tIns="0" rIns="0" bIns="0" rtlCol="0" anchor="t"/>
          <a:lstStyle/>
          <a:p>
            <a:pPr indent="0" marL="0">
              <a:buNone/>
            </a:pPr>
            <a:r>
              <a:rPr lang="en-US" sz="2600" b="1" dirty="0">
                <a:solidFill>
                  <a:srgbClr val="0F172A"/>
                </a:solidFill>
                <a:latin typeface="Cambria" pitchFamily="34" charset="0"/>
                <a:ea typeface="Cambria" pitchFamily="34" charset="-122"/>
                <a:cs typeface="Cambria" pitchFamily="34" charset="-120"/>
              </a:rPr>
              <a:t>50 → 4</a:t>
            </a:r>
            <a:endParaRPr lang="en-US" sz="2600" dirty="0"/>
          </a:p>
        </p:txBody>
      </p:sp>
      <p:sp>
        <p:nvSpPr>
          <p:cNvPr id="75" name="Text 73"/>
          <p:cNvSpPr txBox="1"/>
          <p:nvPr/>
        </p:nvSpPr>
        <p:spPr>
          <a:xfrm>
            <a:off x="6035040" y="4297680"/>
            <a:ext cx="2560320" cy="27432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ideas tested → adopted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lIns="0" tIns="0" rIns="0" bIns="0" rtlCol="0" anchor="ctr"/>
          <a:lstStyle/>
          <a:p>
            <a:pPr algn="l" indent="0" marL="0">
              <a:buNone/>
            </a:pPr>
            <a:r>
              <a:rPr lang="en-US" sz="2600" b="1" dirty="0">
                <a:solidFill>
                  <a:srgbClr val="0F172A"/>
                </a:solidFill>
              </a:rPr>
              <a:t>Four ideas define the solution</a:t>
            </a:r>
            <a:endParaRPr lang="en-US" sz="2600" dirty="0"/>
          </a:p>
        </p:txBody>
      </p:sp>
      <p:sp>
        <p:nvSpPr>
          <p:cNvPr id="3" name="idea Find the leak first"/>
          <p:cNvSpPr/>
          <p:nvPr/>
        </p:nvSpPr>
        <p:spPr>
          <a:xfrm>
            <a:off x="502920" y="1143000"/>
            <a:ext cx="3931920" cy="1600200"/>
          </a:xfrm>
          <a:prstGeom prst="roundRect">
            <a:avLst>
              <a:gd name="adj" fmla="val 6857"/>
            </a:avLst>
          </a:prstGeom>
          <a:solidFill>
            <a:srgbClr val="F3F4F9"/>
          </a:solidFill>
          <a:ln/>
        </p:spPr>
      </p:sp>
      <p:sp>
        <p:nvSpPr>
          <p:cNvPr id="4" name="badge LuSearch"/>
          <p:cNvSpPr/>
          <p:nvPr/>
        </p:nvSpPr>
        <p:spPr>
          <a:xfrm>
            <a:off x="731520" y="1417320"/>
            <a:ext cx="640080" cy="640080"/>
          </a:xfrm>
          <a:prstGeom prst="ellipse">
            <a:avLst/>
          </a:prstGeom>
          <a:solidFill>
            <a:srgbClr val="E11D48">
              <a:alpha val="20000"/>
            </a:srgbClr>
          </a:solidFill>
          <a:ln/>
        </p:spPr>
      </p:sp>
      <p:pic>
        <p:nvPicPr>
          <p:cNvPr id="5" name="Image 0" descr="Search icon">    </p:cNvPr>
          <p:cNvPicPr>
            <a:picLocks noChangeAspect="1"/>
          </p:cNvPicPr>
          <p:nvPr/>
        </p:nvPicPr>
        <p:blipFill>
          <a:blip r:embed="rId1"/>
          <a:stretch>
            <a:fillRect/>
          </a:stretch>
        </p:blipFill>
        <p:spPr>
          <a:xfrm>
            <a:off x="872338" y="1558138"/>
            <a:ext cx="358445" cy="358445"/>
          </a:xfrm>
          <a:prstGeom prst="rect">
            <a:avLst/>
          </a:prstGeom>
        </p:spPr>
      </p:pic>
      <p:sp>
        <p:nvSpPr>
          <p:cNvPr id="6" name="Text 3"/>
          <p:cNvSpPr txBox="1"/>
          <p:nvPr/>
        </p:nvSpPr>
        <p:spPr>
          <a:xfrm>
            <a:off x="3611880" y="1344168"/>
            <a:ext cx="640080" cy="365760"/>
          </a:xfrm>
          <a:prstGeom prst="rect">
            <a:avLst/>
          </a:prstGeom>
          <a:noFill/>
          <a:ln/>
        </p:spPr>
        <p:txBody>
          <a:bodyPr wrap="square" lIns="0" tIns="0" rIns="0" bIns="0" rtlCol="0" anchor="t"/>
          <a:lstStyle/>
          <a:p>
            <a:pPr algn="r" indent="0" marL="0">
              <a:buNone/>
            </a:pPr>
            <a:r>
              <a:rPr lang="en-US" sz="1800" b="1" dirty="0">
                <a:solidFill>
                  <a:srgbClr val="E11D48"/>
                </a:solidFill>
                <a:latin typeface="Cambria" pitchFamily="34" charset="0"/>
                <a:ea typeface="Cambria" pitchFamily="34" charset="-122"/>
                <a:cs typeface="Cambria" pitchFamily="34" charset="-120"/>
              </a:rPr>
              <a:t>01</a:t>
            </a:r>
            <a:endParaRPr lang="en-US" sz="1800" dirty="0"/>
          </a:p>
        </p:txBody>
      </p:sp>
      <p:sp>
        <p:nvSpPr>
          <p:cNvPr id="7" name="Text 4"/>
          <p:cNvSpPr txBox="1"/>
          <p:nvPr/>
        </p:nvSpPr>
        <p:spPr>
          <a:xfrm>
            <a:off x="1554480" y="1417320"/>
            <a:ext cx="219456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Find the leak first</a:t>
            </a:r>
            <a:endParaRPr lang="en-US" sz="1500" dirty="0"/>
          </a:p>
        </p:txBody>
      </p:sp>
      <p:sp>
        <p:nvSpPr>
          <p:cNvPr id="8" name="Text 5"/>
          <p:cNvSpPr txBox="1"/>
          <p:nvPr/>
        </p:nvSpPr>
        <p:spPr>
          <a:xfrm>
            <a:off x="1554480" y="1828800"/>
            <a:ext cx="26974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~30% of clips are noisy copies. Grouped folds turn a flattering 0.930 into an honest 0.891.</a:t>
            </a:r>
            <a:endParaRPr lang="en-US" sz="1150" dirty="0"/>
          </a:p>
        </p:txBody>
      </p:sp>
      <p:sp>
        <p:nvSpPr>
          <p:cNvPr id="9" name="idea Frozen encoders"/>
          <p:cNvSpPr/>
          <p:nvPr/>
        </p:nvSpPr>
        <p:spPr>
          <a:xfrm>
            <a:off x="4617720" y="1143000"/>
            <a:ext cx="3931920" cy="1600200"/>
          </a:xfrm>
          <a:prstGeom prst="roundRect">
            <a:avLst>
              <a:gd name="adj" fmla="val 6857"/>
            </a:avLst>
          </a:prstGeom>
          <a:solidFill>
            <a:srgbClr val="F3F4F9"/>
          </a:solidFill>
          <a:ln/>
        </p:spPr>
      </p:sp>
      <p:sp>
        <p:nvSpPr>
          <p:cNvPr id="10" name="badge LuSnowflake"/>
          <p:cNvSpPr/>
          <p:nvPr/>
        </p:nvSpPr>
        <p:spPr>
          <a:xfrm>
            <a:off x="4846320" y="1417320"/>
            <a:ext cx="640080" cy="640080"/>
          </a:xfrm>
          <a:prstGeom prst="ellipse">
            <a:avLst/>
          </a:prstGeom>
          <a:solidFill>
            <a:srgbClr val="D97706">
              <a:alpha val="20000"/>
            </a:srgbClr>
          </a:solidFill>
          <a:ln/>
        </p:spPr>
      </p:sp>
      <p:pic>
        <p:nvPicPr>
          <p:cNvPr id="11" name="Image 1" descr="Snowflake icon">    </p:cNvPr>
          <p:cNvPicPr>
            <a:picLocks noChangeAspect="1"/>
          </p:cNvPicPr>
          <p:nvPr/>
        </p:nvPicPr>
        <p:blipFill>
          <a:blip r:embed="rId2"/>
          <a:stretch>
            <a:fillRect/>
          </a:stretch>
        </p:blipFill>
        <p:spPr>
          <a:xfrm>
            <a:off x="4987138" y="1558138"/>
            <a:ext cx="358445" cy="358445"/>
          </a:xfrm>
          <a:prstGeom prst="rect">
            <a:avLst/>
          </a:prstGeom>
        </p:spPr>
      </p:pic>
      <p:sp>
        <p:nvSpPr>
          <p:cNvPr id="12" name="Text 8"/>
          <p:cNvSpPr txBox="1"/>
          <p:nvPr/>
        </p:nvSpPr>
        <p:spPr>
          <a:xfrm>
            <a:off x="7726680" y="1344168"/>
            <a:ext cx="640080" cy="365760"/>
          </a:xfrm>
          <a:prstGeom prst="rect">
            <a:avLst/>
          </a:prstGeom>
          <a:noFill/>
          <a:ln/>
        </p:spPr>
        <p:txBody>
          <a:bodyPr wrap="square" lIns="0" tIns="0" rIns="0" bIns="0" rtlCol="0" anchor="t"/>
          <a:lstStyle/>
          <a:p>
            <a:pPr algn="r" indent="0" marL="0">
              <a:buNone/>
            </a:pPr>
            <a:r>
              <a:rPr lang="en-US" sz="1800" b="1" dirty="0">
                <a:solidFill>
                  <a:srgbClr val="D97706"/>
                </a:solidFill>
                <a:latin typeface="Cambria" pitchFamily="34" charset="0"/>
                <a:ea typeface="Cambria" pitchFamily="34" charset="-122"/>
                <a:cs typeface="Cambria" pitchFamily="34" charset="-120"/>
              </a:rPr>
              <a:t>02</a:t>
            </a:r>
            <a:endParaRPr lang="en-US" sz="1800" dirty="0"/>
          </a:p>
        </p:txBody>
      </p:sp>
      <p:sp>
        <p:nvSpPr>
          <p:cNvPr id="13" name="Text 9"/>
          <p:cNvSpPr txBox="1"/>
          <p:nvPr/>
        </p:nvSpPr>
        <p:spPr>
          <a:xfrm>
            <a:off x="5669280" y="1417320"/>
            <a:ext cx="219456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Frozen encoders</a:t>
            </a:r>
            <a:endParaRPr lang="en-US" sz="1500" dirty="0"/>
          </a:p>
        </p:txBody>
      </p:sp>
      <p:sp>
        <p:nvSpPr>
          <p:cNvPr id="14" name="Text 10"/>
          <p:cNvSpPr txBox="1"/>
          <p:nvPr/>
        </p:nvSpPr>
        <p:spPr>
          <a:xfrm>
            <a:off x="5669280" y="1828800"/>
            <a:ext cx="26974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Whisper, w2v-BERT and Qwen2.5-Omni as frozen experts. At 660 clips, fine-tuning loses.</a:t>
            </a:r>
            <a:endParaRPr lang="en-US" sz="1150" dirty="0"/>
          </a:p>
        </p:txBody>
      </p:sp>
      <p:sp>
        <p:nvSpPr>
          <p:cNvPr id="15" name="idea Diversity over strength"/>
          <p:cNvSpPr/>
          <p:nvPr/>
        </p:nvSpPr>
        <p:spPr>
          <a:xfrm>
            <a:off x="502920" y="2926080"/>
            <a:ext cx="3931920" cy="1600200"/>
          </a:xfrm>
          <a:prstGeom prst="roundRect">
            <a:avLst>
              <a:gd name="adj" fmla="val 6857"/>
            </a:avLst>
          </a:prstGeom>
          <a:solidFill>
            <a:srgbClr val="F3F4F9"/>
          </a:solidFill>
          <a:ln/>
        </p:spPr>
      </p:sp>
      <p:sp>
        <p:nvSpPr>
          <p:cNvPr id="16" name="badge LuUsers"/>
          <p:cNvSpPr/>
          <p:nvPr/>
        </p:nvSpPr>
        <p:spPr>
          <a:xfrm>
            <a:off x="731520" y="3200400"/>
            <a:ext cx="640080" cy="640080"/>
          </a:xfrm>
          <a:prstGeom prst="ellipse">
            <a:avLst/>
          </a:prstGeom>
          <a:solidFill>
            <a:srgbClr val="64748B">
              <a:alpha val="20000"/>
            </a:srgbClr>
          </a:solidFill>
          <a:ln/>
        </p:spPr>
      </p:sp>
      <p:pic>
        <p:nvPicPr>
          <p:cNvPr id="17" name="Image 2" descr="Users icon">    </p:cNvPr>
          <p:cNvPicPr>
            <a:picLocks noChangeAspect="1"/>
          </p:cNvPicPr>
          <p:nvPr/>
        </p:nvPicPr>
        <p:blipFill>
          <a:blip r:embed="rId3"/>
          <a:stretch>
            <a:fillRect/>
          </a:stretch>
        </p:blipFill>
        <p:spPr>
          <a:xfrm>
            <a:off x="872338" y="3341218"/>
            <a:ext cx="358445" cy="358445"/>
          </a:xfrm>
          <a:prstGeom prst="rect">
            <a:avLst/>
          </a:prstGeom>
        </p:spPr>
      </p:pic>
      <p:sp>
        <p:nvSpPr>
          <p:cNvPr id="18" name="Text 13"/>
          <p:cNvSpPr txBox="1"/>
          <p:nvPr/>
        </p:nvSpPr>
        <p:spPr>
          <a:xfrm>
            <a:off x="3611880" y="3127248"/>
            <a:ext cx="640080" cy="365760"/>
          </a:xfrm>
          <a:prstGeom prst="rect">
            <a:avLst/>
          </a:prstGeom>
          <a:noFill/>
          <a:ln/>
        </p:spPr>
        <p:txBody>
          <a:bodyPr wrap="square" lIns="0" tIns="0" rIns="0" bIns="0" rtlCol="0" anchor="t"/>
          <a:lstStyle/>
          <a:p>
            <a:pPr algn="r" indent="0" marL="0">
              <a:buNone/>
            </a:pPr>
            <a:r>
              <a:rPr lang="en-US" sz="1800" b="1" dirty="0">
                <a:solidFill>
                  <a:srgbClr val="64748B"/>
                </a:solidFill>
                <a:latin typeface="Cambria" pitchFamily="34" charset="0"/>
                <a:ea typeface="Cambria" pitchFamily="34" charset="-122"/>
                <a:cs typeface="Cambria" pitchFamily="34" charset="-120"/>
              </a:rPr>
              <a:t>03</a:t>
            </a:r>
            <a:endParaRPr lang="en-US" sz="1800" dirty="0"/>
          </a:p>
        </p:txBody>
      </p:sp>
      <p:sp>
        <p:nvSpPr>
          <p:cNvPr id="19" name="Text 14"/>
          <p:cNvSpPr txBox="1"/>
          <p:nvPr/>
        </p:nvSpPr>
        <p:spPr>
          <a:xfrm>
            <a:off x="1554480" y="3200400"/>
            <a:ext cx="219456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Diversity over strength</a:t>
            </a:r>
            <a:endParaRPr lang="en-US" sz="1500" dirty="0"/>
          </a:p>
        </p:txBody>
      </p:sp>
      <p:sp>
        <p:nvSpPr>
          <p:cNvPr id="20" name="Text 15"/>
          <p:cNvSpPr txBox="1"/>
          <p:nvPr/>
        </p:nvSpPr>
        <p:spPr>
          <a:xfrm>
            <a:off x="1554480" y="3611880"/>
            <a:ext cx="26974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Six members chosen for decorrelated errors, not individual accuracy.</a:t>
            </a:r>
            <a:endParaRPr lang="en-US" sz="1150" dirty="0"/>
          </a:p>
        </p:txBody>
      </p:sp>
      <p:sp>
        <p:nvSpPr>
          <p:cNvPr id="21" name="idea Turn the flaw into a feature"/>
          <p:cNvSpPr/>
          <p:nvPr/>
        </p:nvSpPr>
        <p:spPr>
          <a:xfrm>
            <a:off x="4617720" y="2926080"/>
            <a:ext cx="3931920" cy="1600200"/>
          </a:xfrm>
          <a:prstGeom prst="roundRect">
            <a:avLst>
              <a:gd name="adj" fmla="val 6857"/>
            </a:avLst>
          </a:prstGeom>
          <a:solidFill>
            <a:srgbClr val="F3F4F9"/>
          </a:solidFill>
          <a:ln/>
        </p:spPr>
      </p:sp>
      <p:sp>
        <p:nvSpPr>
          <p:cNvPr id="22" name="badge LuLock"/>
          <p:cNvSpPr/>
          <p:nvPr/>
        </p:nvSpPr>
        <p:spPr>
          <a:xfrm>
            <a:off x="4846320" y="3200400"/>
            <a:ext cx="640080" cy="640080"/>
          </a:xfrm>
          <a:prstGeom prst="ellipse">
            <a:avLst/>
          </a:prstGeom>
          <a:solidFill>
            <a:srgbClr val="2563EB">
              <a:alpha val="20000"/>
            </a:srgbClr>
          </a:solidFill>
          <a:ln/>
        </p:spPr>
      </p:sp>
      <p:pic>
        <p:nvPicPr>
          <p:cNvPr id="23" name="Image 3" descr="Lock icon">    </p:cNvPr>
          <p:cNvPicPr>
            <a:picLocks noChangeAspect="1"/>
          </p:cNvPicPr>
          <p:nvPr/>
        </p:nvPicPr>
        <p:blipFill>
          <a:blip r:embed="rId4"/>
          <a:stretch>
            <a:fillRect/>
          </a:stretch>
        </p:blipFill>
        <p:spPr>
          <a:xfrm>
            <a:off x="4987138" y="3341218"/>
            <a:ext cx="358445" cy="358445"/>
          </a:xfrm>
          <a:prstGeom prst="rect">
            <a:avLst/>
          </a:prstGeom>
        </p:spPr>
      </p:pic>
      <p:sp>
        <p:nvSpPr>
          <p:cNvPr id="24" name="Text 18"/>
          <p:cNvSpPr txBox="1"/>
          <p:nvPr/>
        </p:nvSpPr>
        <p:spPr>
          <a:xfrm>
            <a:off x="7726680" y="3127248"/>
            <a:ext cx="640080" cy="365760"/>
          </a:xfrm>
          <a:prstGeom prst="rect">
            <a:avLst/>
          </a:prstGeom>
          <a:noFill/>
          <a:ln/>
        </p:spPr>
        <p:txBody>
          <a:bodyPr wrap="square" lIns="0" tIns="0" rIns="0" bIns="0" rtlCol="0" anchor="t"/>
          <a:lstStyle/>
          <a:p>
            <a:pPr algn="r" indent="0" marL="0">
              <a:buNone/>
            </a:pPr>
            <a:r>
              <a:rPr lang="en-US" sz="1800" b="1" dirty="0">
                <a:solidFill>
                  <a:srgbClr val="2563EB"/>
                </a:solidFill>
                <a:latin typeface="Cambria" pitchFamily="34" charset="0"/>
                <a:ea typeface="Cambria" pitchFamily="34" charset="-122"/>
                <a:cs typeface="Cambria" pitchFamily="34" charset="-120"/>
              </a:rPr>
              <a:t>04</a:t>
            </a:r>
            <a:endParaRPr lang="en-US" sz="1800" dirty="0"/>
          </a:p>
        </p:txBody>
      </p:sp>
      <p:sp>
        <p:nvSpPr>
          <p:cNvPr id="25" name="Text 19"/>
          <p:cNvSpPr txBox="1"/>
          <p:nvPr/>
        </p:nvSpPr>
        <p:spPr>
          <a:xfrm>
            <a:off x="5669280" y="3200400"/>
            <a:ext cx="219456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Turn the flaw into a feature</a:t>
            </a:r>
            <a:endParaRPr lang="en-US" sz="1500" dirty="0"/>
          </a:p>
        </p:txBody>
      </p:sp>
      <p:sp>
        <p:nvSpPr>
          <p:cNvPr id="26" name="Text 20"/>
          <p:cNvSpPr txBox="1"/>
          <p:nvPr/>
        </p:nvSpPr>
        <p:spPr>
          <a:xfrm>
            <a:off x="5669280" y="3611880"/>
            <a:ext cx="2697480" cy="8229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 validated twin lock reuses training labels for 78 duplicated test clips.</a:t>
            </a:r>
            <a:endParaRPr lang="en-US" sz="115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lIns="0" tIns="0" rIns="0" bIns="0" rtlCol="0" anchor="ctr"/>
          <a:lstStyle/>
          <a:p>
            <a:pPr algn="l" indent="0" marL="0">
              <a:buNone/>
            </a:pPr>
            <a:r>
              <a:rPr lang="en-US" sz="2600" b="1" dirty="0">
                <a:solidFill>
                  <a:srgbClr val="0F172A"/>
                </a:solidFill>
              </a:rPr>
              <a:t>The hidden structure: one in three clips is a copy</a:t>
            </a:r>
            <a:endParaRPr lang="en-US" sz="2600" dirty="0"/>
          </a:p>
        </p:txBody>
      </p:sp>
      <p:sp>
        <p:nvSpPr>
          <p:cNvPr id="3" name="Text 1"/>
          <p:cNvSpPr txBox="1"/>
          <p:nvPr/>
        </p:nvSpPr>
        <p:spPr>
          <a:xfrm>
            <a:off x="502920" y="1143000"/>
            <a:ext cx="3840480" cy="1188720"/>
          </a:xfrm>
          <a:prstGeom prst="rect">
            <a:avLst/>
          </a:prstGeom>
          <a:noFill/>
          <a:ln/>
        </p:spPr>
        <p:txBody>
          <a:bodyPr wrap="square" lIns="0" tIns="0" rIns="0" bIns="0" rtlCol="0" anchor="t"/>
          <a:lstStyle/>
          <a:p>
            <a:pPr indent="0" marL="0">
              <a:buNone/>
            </a:pPr>
            <a:r>
              <a:rPr lang="en-US" sz="8000" b="1" dirty="0">
                <a:solidFill>
                  <a:srgbClr val="E8711A"/>
                </a:solidFill>
                <a:latin typeface="Cambria" pitchFamily="34" charset="0"/>
                <a:ea typeface="Cambria" pitchFamily="34" charset="-122"/>
                <a:cs typeface="Cambria" pitchFamily="34" charset="-120"/>
              </a:rPr>
              <a:t>1 in 3</a:t>
            </a:r>
            <a:endParaRPr lang="en-US" sz="8000" dirty="0"/>
          </a:p>
        </p:txBody>
      </p:sp>
      <p:sp>
        <p:nvSpPr>
          <p:cNvPr id="4" name="Text 2"/>
          <p:cNvSpPr txBox="1"/>
          <p:nvPr/>
        </p:nvSpPr>
        <p:spPr>
          <a:xfrm>
            <a:off x="502920" y="2377440"/>
            <a:ext cx="3840480" cy="109728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clips is the same recording, re-saved with added noise (residual SNR 18–30 dB). Only 12% are byte-identical, so we matched duration plus Whisper-embedding cosine &gt; 0.9.</a:t>
            </a:r>
            <a:endParaRPr lang="en-US" sz="1300" dirty="0"/>
          </a:p>
        </p:txBody>
      </p:sp>
      <p:sp>
        <p:nvSpPr>
          <p:cNvPr id="5" name="wave 0"/>
          <p:cNvSpPr/>
          <p:nvPr/>
        </p:nvSpPr>
        <p:spPr>
          <a:xfrm>
            <a:off x="502920" y="3943350"/>
            <a:ext cx="62125" cy="160020"/>
          </a:xfrm>
          <a:prstGeom prst="roundRect">
            <a:avLst>
              <a:gd name="adj" fmla="val 50000"/>
            </a:avLst>
          </a:prstGeom>
          <a:solidFill>
            <a:srgbClr val="E11D48">
              <a:alpha val="70000"/>
            </a:srgbClr>
          </a:solidFill>
          <a:ln/>
        </p:spPr>
      </p:sp>
      <p:sp>
        <p:nvSpPr>
          <p:cNvPr id="6" name="wave 1"/>
          <p:cNvSpPr/>
          <p:nvPr/>
        </p:nvSpPr>
        <p:spPr>
          <a:xfrm>
            <a:off x="615875" y="3896724"/>
            <a:ext cx="62125" cy="253272"/>
          </a:xfrm>
          <a:prstGeom prst="roundRect">
            <a:avLst>
              <a:gd name="adj" fmla="val 50000"/>
            </a:avLst>
          </a:prstGeom>
          <a:solidFill>
            <a:srgbClr val="E11D48">
              <a:alpha val="70000"/>
            </a:srgbClr>
          </a:solidFill>
          <a:ln/>
        </p:spPr>
      </p:sp>
      <p:sp>
        <p:nvSpPr>
          <p:cNvPr id="7" name="wave 2"/>
          <p:cNvSpPr/>
          <p:nvPr/>
        </p:nvSpPr>
        <p:spPr>
          <a:xfrm>
            <a:off x="728831" y="3926056"/>
            <a:ext cx="62125" cy="194608"/>
          </a:xfrm>
          <a:prstGeom prst="roundRect">
            <a:avLst>
              <a:gd name="adj" fmla="val 50000"/>
            </a:avLst>
          </a:prstGeom>
          <a:solidFill>
            <a:srgbClr val="E11D48">
              <a:alpha val="70000"/>
            </a:srgbClr>
          </a:solidFill>
          <a:ln/>
        </p:spPr>
      </p:sp>
      <p:sp>
        <p:nvSpPr>
          <p:cNvPr id="8" name="wave 3"/>
          <p:cNvSpPr/>
          <p:nvPr/>
        </p:nvSpPr>
        <p:spPr>
          <a:xfrm>
            <a:off x="841786" y="3925889"/>
            <a:ext cx="62125" cy="194942"/>
          </a:xfrm>
          <a:prstGeom prst="roundRect">
            <a:avLst>
              <a:gd name="adj" fmla="val 50000"/>
            </a:avLst>
          </a:prstGeom>
          <a:solidFill>
            <a:srgbClr val="E11D48">
              <a:alpha val="70000"/>
            </a:srgbClr>
          </a:solidFill>
          <a:ln/>
        </p:spPr>
      </p:sp>
      <p:sp>
        <p:nvSpPr>
          <p:cNvPr id="9" name="wave 4"/>
          <p:cNvSpPr/>
          <p:nvPr/>
        </p:nvSpPr>
        <p:spPr>
          <a:xfrm>
            <a:off x="954741" y="3858835"/>
            <a:ext cx="62125" cy="329050"/>
          </a:xfrm>
          <a:prstGeom prst="roundRect">
            <a:avLst>
              <a:gd name="adj" fmla="val 50000"/>
            </a:avLst>
          </a:prstGeom>
          <a:solidFill>
            <a:srgbClr val="E11D48">
              <a:alpha val="70000"/>
            </a:srgbClr>
          </a:solidFill>
          <a:ln/>
        </p:spPr>
      </p:sp>
      <p:sp>
        <p:nvSpPr>
          <p:cNvPr id="10" name="wave 5"/>
          <p:cNvSpPr/>
          <p:nvPr/>
        </p:nvSpPr>
        <p:spPr>
          <a:xfrm>
            <a:off x="1067696" y="3842974"/>
            <a:ext cx="62125" cy="360771"/>
          </a:xfrm>
          <a:prstGeom prst="roundRect">
            <a:avLst>
              <a:gd name="adj" fmla="val 50000"/>
            </a:avLst>
          </a:prstGeom>
          <a:solidFill>
            <a:srgbClr val="E11D48">
              <a:alpha val="70000"/>
            </a:srgbClr>
          </a:solidFill>
          <a:ln/>
        </p:spPr>
      </p:sp>
      <p:sp>
        <p:nvSpPr>
          <p:cNvPr id="11" name="wave 6"/>
          <p:cNvSpPr/>
          <p:nvPr/>
        </p:nvSpPr>
        <p:spPr>
          <a:xfrm>
            <a:off x="1180652" y="3871109"/>
            <a:ext cx="62125" cy="304502"/>
          </a:xfrm>
          <a:prstGeom prst="roundRect">
            <a:avLst>
              <a:gd name="adj" fmla="val 50000"/>
            </a:avLst>
          </a:prstGeom>
          <a:solidFill>
            <a:srgbClr val="E11D48">
              <a:alpha val="70000"/>
            </a:srgbClr>
          </a:solidFill>
          <a:ln/>
        </p:spPr>
      </p:sp>
      <p:sp>
        <p:nvSpPr>
          <p:cNvPr id="12" name="wave 7"/>
          <p:cNvSpPr/>
          <p:nvPr/>
        </p:nvSpPr>
        <p:spPr>
          <a:xfrm>
            <a:off x="1293607" y="3837919"/>
            <a:ext cx="62125" cy="370883"/>
          </a:xfrm>
          <a:prstGeom prst="roundRect">
            <a:avLst>
              <a:gd name="adj" fmla="val 50000"/>
            </a:avLst>
          </a:prstGeom>
          <a:solidFill>
            <a:srgbClr val="E11D48">
              <a:alpha val="70000"/>
            </a:srgbClr>
          </a:solidFill>
          <a:ln/>
        </p:spPr>
      </p:sp>
      <p:sp>
        <p:nvSpPr>
          <p:cNvPr id="13" name="wave 8"/>
          <p:cNvSpPr/>
          <p:nvPr/>
        </p:nvSpPr>
        <p:spPr>
          <a:xfrm>
            <a:off x="1406562" y="3912742"/>
            <a:ext cx="62125" cy="221235"/>
          </a:xfrm>
          <a:prstGeom prst="roundRect">
            <a:avLst>
              <a:gd name="adj" fmla="val 50000"/>
            </a:avLst>
          </a:prstGeom>
          <a:solidFill>
            <a:srgbClr val="E11D48">
              <a:alpha val="70000"/>
            </a:srgbClr>
          </a:solidFill>
          <a:ln/>
        </p:spPr>
      </p:sp>
      <p:sp>
        <p:nvSpPr>
          <p:cNvPr id="14" name="wave 9"/>
          <p:cNvSpPr/>
          <p:nvPr/>
        </p:nvSpPr>
        <p:spPr>
          <a:xfrm>
            <a:off x="1519518" y="3910623"/>
            <a:ext cx="62125" cy="225474"/>
          </a:xfrm>
          <a:prstGeom prst="roundRect">
            <a:avLst>
              <a:gd name="adj" fmla="val 50000"/>
            </a:avLst>
          </a:prstGeom>
          <a:solidFill>
            <a:srgbClr val="D97706">
              <a:alpha val="70000"/>
            </a:srgbClr>
          </a:solidFill>
          <a:ln/>
        </p:spPr>
      </p:sp>
      <p:sp>
        <p:nvSpPr>
          <p:cNvPr id="15" name="wave 10"/>
          <p:cNvSpPr/>
          <p:nvPr/>
        </p:nvSpPr>
        <p:spPr>
          <a:xfrm>
            <a:off x="1632473" y="3750267"/>
            <a:ext cx="62125" cy="546186"/>
          </a:xfrm>
          <a:prstGeom prst="roundRect">
            <a:avLst>
              <a:gd name="adj" fmla="val 50000"/>
            </a:avLst>
          </a:prstGeom>
          <a:solidFill>
            <a:srgbClr val="D97706">
              <a:alpha val="70000"/>
            </a:srgbClr>
          </a:solidFill>
          <a:ln/>
        </p:spPr>
      </p:sp>
      <p:sp>
        <p:nvSpPr>
          <p:cNvPr id="16" name="wave 11"/>
          <p:cNvSpPr/>
          <p:nvPr/>
        </p:nvSpPr>
        <p:spPr>
          <a:xfrm>
            <a:off x="1745428" y="3885105"/>
            <a:ext cx="62125" cy="276511"/>
          </a:xfrm>
          <a:prstGeom prst="roundRect">
            <a:avLst>
              <a:gd name="adj" fmla="val 50000"/>
            </a:avLst>
          </a:prstGeom>
          <a:solidFill>
            <a:srgbClr val="D97706">
              <a:alpha val="70000"/>
            </a:srgbClr>
          </a:solidFill>
          <a:ln/>
        </p:spPr>
      </p:sp>
      <p:sp>
        <p:nvSpPr>
          <p:cNvPr id="17" name="wave 12"/>
          <p:cNvSpPr/>
          <p:nvPr/>
        </p:nvSpPr>
        <p:spPr>
          <a:xfrm>
            <a:off x="1858384" y="3800356"/>
            <a:ext cx="62125" cy="446009"/>
          </a:xfrm>
          <a:prstGeom prst="roundRect">
            <a:avLst>
              <a:gd name="adj" fmla="val 50000"/>
            </a:avLst>
          </a:prstGeom>
          <a:solidFill>
            <a:srgbClr val="D97706">
              <a:alpha val="70000"/>
            </a:srgbClr>
          </a:solidFill>
          <a:ln/>
        </p:spPr>
      </p:sp>
      <p:sp>
        <p:nvSpPr>
          <p:cNvPr id="18" name="wave 13"/>
          <p:cNvSpPr/>
          <p:nvPr/>
        </p:nvSpPr>
        <p:spPr>
          <a:xfrm>
            <a:off x="1971339" y="3905549"/>
            <a:ext cx="62125" cy="235621"/>
          </a:xfrm>
          <a:prstGeom prst="roundRect">
            <a:avLst>
              <a:gd name="adj" fmla="val 50000"/>
            </a:avLst>
          </a:prstGeom>
          <a:solidFill>
            <a:srgbClr val="D97706">
              <a:alpha val="70000"/>
            </a:srgbClr>
          </a:solidFill>
          <a:ln/>
        </p:spPr>
      </p:sp>
      <p:sp>
        <p:nvSpPr>
          <p:cNvPr id="19" name="wave 14"/>
          <p:cNvSpPr/>
          <p:nvPr/>
        </p:nvSpPr>
        <p:spPr>
          <a:xfrm>
            <a:off x="2084294" y="3891404"/>
            <a:ext cx="62125" cy="263912"/>
          </a:xfrm>
          <a:prstGeom prst="roundRect">
            <a:avLst>
              <a:gd name="adj" fmla="val 50000"/>
            </a:avLst>
          </a:prstGeom>
          <a:solidFill>
            <a:srgbClr val="D97706">
              <a:alpha val="70000"/>
            </a:srgbClr>
          </a:solidFill>
          <a:ln/>
        </p:spPr>
      </p:sp>
      <p:sp>
        <p:nvSpPr>
          <p:cNvPr id="20" name="wave 15"/>
          <p:cNvSpPr/>
          <p:nvPr/>
        </p:nvSpPr>
        <p:spPr>
          <a:xfrm>
            <a:off x="2197249" y="3796971"/>
            <a:ext cx="62125" cy="452779"/>
          </a:xfrm>
          <a:prstGeom prst="roundRect">
            <a:avLst>
              <a:gd name="adj" fmla="val 50000"/>
            </a:avLst>
          </a:prstGeom>
          <a:solidFill>
            <a:srgbClr val="D97706">
              <a:alpha val="70000"/>
            </a:srgbClr>
          </a:solidFill>
          <a:ln/>
        </p:spPr>
      </p:sp>
      <p:sp>
        <p:nvSpPr>
          <p:cNvPr id="21" name="wave 16"/>
          <p:cNvSpPr/>
          <p:nvPr/>
        </p:nvSpPr>
        <p:spPr>
          <a:xfrm>
            <a:off x="2310205" y="3739053"/>
            <a:ext cx="62125" cy="568614"/>
          </a:xfrm>
          <a:prstGeom prst="roundRect">
            <a:avLst>
              <a:gd name="adj" fmla="val 50000"/>
            </a:avLst>
          </a:prstGeom>
          <a:solidFill>
            <a:srgbClr val="D97706">
              <a:alpha val="70000"/>
            </a:srgbClr>
          </a:solidFill>
          <a:ln/>
        </p:spPr>
      </p:sp>
      <p:sp>
        <p:nvSpPr>
          <p:cNvPr id="22" name="wave 17"/>
          <p:cNvSpPr/>
          <p:nvPr/>
        </p:nvSpPr>
        <p:spPr>
          <a:xfrm>
            <a:off x="2423160" y="3897730"/>
            <a:ext cx="62125" cy="251259"/>
          </a:xfrm>
          <a:prstGeom prst="roundRect">
            <a:avLst>
              <a:gd name="adj" fmla="val 50000"/>
            </a:avLst>
          </a:prstGeom>
          <a:solidFill>
            <a:srgbClr val="64748B">
              <a:alpha val="70000"/>
            </a:srgbClr>
          </a:solidFill>
          <a:ln/>
        </p:spPr>
      </p:sp>
      <p:sp>
        <p:nvSpPr>
          <p:cNvPr id="23" name="wave 18"/>
          <p:cNvSpPr/>
          <p:nvPr/>
        </p:nvSpPr>
        <p:spPr>
          <a:xfrm>
            <a:off x="2536115" y="3828124"/>
            <a:ext cx="62125" cy="390472"/>
          </a:xfrm>
          <a:prstGeom prst="roundRect">
            <a:avLst>
              <a:gd name="adj" fmla="val 50000"/>
            </a:avLst>
          </a:prstGeom>
          <a:solidFill>
            <a:srgbClr val="64748B">
              <a:alpha val="70000"/>
            </a:srgbClr>
          </a:solidFill>
          <a:ln/>
        </p:spPr>
      </p:sp>
      <p:sp>
        <p:nvSpPr>
          <p:cNvPr id="24" name="wave 19"/>
          <p:cNvSpPr/>
          <p:nvPr/>
        </p:nvSpPr>
        <p:spPr>
          <a:xfrm>
            <a:off x="2649071" y="3890628"/>
            <a:ext cx="62125" cy="265463"/>
          </a:xfrm>
          <a:prstGeom prst="roundRect">
            <a:avLst>
              <a:gd name="adj" fmla="val 50000"/>
            </a:avLst>
          </a:prstGeom>
          <a:solidFill>
            <a:srgbClr val="64748B">
              <a:alpha val="70000"/>
            </a:srgbClr>
          </a:solidFill>
          <a:ln/>
        </p:spPr>
      </p:sp>
      <p:sp>
        <p:nvSpPr>
          <p:cNvPr id="25" name="wave 20"/>
          <p:cNvSpPr/>
          <p:nvPr/>
        </p:nvSpPr>
        <p:spPr>
          <a:xfrm>
            <a:off x="2762026" y="3931364"/>
            <a:ext cx="62125" cy="183993"/>
          </a:xfrm>
          <a:prstGeom prst="roundRect">
            <a:avLst>
              <a:gd name="adj" fmla="val 50000"/>
            </a:avLst>
          </a:prstGeom>
          <a:solidFill>
            <a:srgbClr val="64748B">
              <a:alpha val="70000"/>
            </a:srgbClr>
          </a:solidFill>
          <a:ln/>
        </p:spPr>
      </p:sp>
      <p:sp>
        <p:nvSpPr>
          <p:cNvPr id="26" name="wave 21"/>
          <p:cNvSpPr/>
          <p:nvPr/>
        </p:nvSpPr>
        <p:spPr>
          <a:xfrm>
            <a:off x="2874981" y="3729690"/>
            <a:ext cx="62125" cy="587341"/>
          </a:xfrm>
          <a:prstGeom prst="roundRect">
            <a:avLst>
              <a:gd name="adj" fmla="val 50000"/>
            </a:avLst>
          </a:prstGeom>
          <a:solidFill>
            <a:srgbClr val="64748B">
              <a:alpha val="70000"/>
            </a:srgbClr>
          </a:solidFill>
          <a:ln/>
        </p:spPr>
      </p:sp>
      <p:sp>
        <p:nvSpPr>
          <p:cNvPr id="27" name="wave 22"/>
          <p:cNvSpPr/>
          <p:nvPr/>
        </p:nvSpPr>
        <p:spPr>
          <a:xfrm>
            <a:off x="2987936" y="3835083"/>
            <a:ext cx="62125" cy="376553"/>
          </a:xfrm>
          <a:prstGeom prst="roundRect">
            <a:avLst>
              <a:gd name="adj" fmla="val 50000"/>
            </a:avLst>
          </a:prstGeom>
          <a:solidFill>
            <a:srgbClr val="64748B">
              <a:alpha val="70000"/>
            </a:srgbClr>
          </a:solidFill>
          <a:ln/>
        </p:spPr>
      </p:sp>
      <p:sp>
        <p:nvSpPr>
          <p:cNvPr id="28" name="wave 23"/>
          <p:cNvSpPr/>
          <p:nvPr/>
        </p:nvSpPr>
        <p:spPr>
          <a:xfrm>
            <a:off x="3100892" y="3849044"/>
            <a:ext cx="62125" cy="348633"/>
          </a:xfrm>
          <a:prstGeom prst="roundRect">
            <a:avLst>
              <a:gd name="adj" fmla="val 50000"/>
            </a:avLst>
          </a:prstGeom>
          <a:solidFill>
            <a:srgbClr val="64748B">
              <a:alpha val="70000"/>
            </a:srgbClr>
          </a:solidFill>
          <a:ln/>
        </p:spPr>
      </p:sp>
      <p:sp>
        <p:nvSpPr>
          <p:cNvPr id="29" name="wave 24"/>
          <p:cNvSpPr/>
          <p:nvPr/>
        </p:nvSpPr>
        <p:spPr>
          <a:xfrm>
            <a:off x="3213847" y="3925976"/>
            <a:ext cx="62125" cy="194768"/>
          </a:xfrm>
          <a:prstGeom prst="roundRect">
            <a:avLst>
              <a:gd name="adj" fmla="val 50000"/>
            </a:avLst>
          </a:prstGeom>
          <a:solidFill>
            <a:srgbClr val="64748B">
              <a:alpha val="70000"/>
            </a:srgbClr>
          </a:solidFill>
          <a:ln/>
        </p:spPr>
      </p:sp>
      <p:sp>
        <p:nvSpPr>
          <p:cNvPr id="30" name="wave 25"/>
          <p:cNvSpPr/>
          <p:nvPr/>
        </p:nvSpPr>
        <p:spPr>
          <a:xfrm>
            <a:off x="3326802" y="3877062"/>
            <a:ext cx="62125" cy="292596"/>
          </a:xfrm>
          <a:prstGeom prst="roundRect">
            <a:avLst>
              <a:gd name="adj" fmla="val 50000"/>
            </a:avLst>
          </a:prstGeom>
          <a:solidFill>
            <a:srgbClr val="2563EB">
              <a:alpha val="70000"/>
            </a:srgbClr>
          </a:solidFill>
          <a:ln/>
        </p:spPr>
      </p:sp>
      <p:sp>
        <p:nvSpPr>
          <p:cNvPr id="31" name="wave 26"/>
          <p:cNvSpPr/>
          <p:nvPr/>
        </p:nvSpPr>
        <p:spPr>
          <a:xfrm>
            <a:off x="3439758" y="3852640"/>
            <a:ext cx="62125" cy="341441"/>
          </a:xfrm>
          <a:prstGeom prst="roundRect">
            <a:avLst>
              <a:gd name="adj" fmla="val 50000"/>
            </a:avLst>
          </a:prstGeom>
          <a:solidFill>
            <a:srgbClr val="2563EB">
              <a:alpha val="70000"/>
            </a:srgbClr>
          </a:solidFill>
          <a:ln/>
        </p:spPr>
      </p:sp>
      <p:sp>
        <p:nvSpPr>
          <p:cNvPr id="32" name="wave 27"/>
          <p:cNvSpPr/>
          <p:nvPr/>
        </p:nvSpPr>
        <p:spPr>
          <a:xfrm>
            <a:off x="3552713" y="3784308"/>
            <a:ext cx="62125" cy="478104"/>
          </a:xfrm>
          <a:prstGeom prst="roundRect">
            <a:avLst>
              <a:gd name="adj" fmla="val 50000"/>
            </a:avLst>
          </a:prstGeom>
          <a:solidFill>
            <a:srgbClr val="2563EB">
              <a:alpha val="70000"/>
            </a:srgbClr>
          </a:solidFill>
          <a:ln/>
        </p:spPr>
      </p:sp>
      <p:sp>
        <p:nvSpPr>
          <p:cNvPr id="33" name="wave 28"/>
          <p:cNvSpPr/>
          <p:nvPr/>
        </p:nvSpPr>
        <p:spPr>
          <a:xfrm>
            <a:off x="3665668" y="3938810"/>
            <a:ext cx="62125" cy="169100"/>
          </a:xfrm>
          <a:prstGeom prst="roundRect">
            <a:avLst>
              <a:gd name="adj" fmla="val 50000"/>
            </a:avLst>
          </a:prstGeom>
          <a:solidFill>
            <a:srgbClr val="2563EB">
              <a:alpha val="70000"/>
            </a:srgbClr>
          </a:solidFill>
          <a:ln/>
        </p:spPr>
      </p:sp>
      <p:sp>
        <p:nvSpPr>
          <p:cNvPr id="34" name="wave 29"/>
          <p:cNvSpPr/>
          <p:nvPr/>
        </p:nvSpPr>
        <p:spPr>
          <a:xfrm>
            <a:off x="3778624" y="3895533"/>
            <a:ext cx="62125" cy="255654"/>
          </a:xfrm>
          <a:prstGeom prst="roundRect">
            <a:avLst>
              <a:gd name="adj" fmla="val 50000"/>
            </a:avLst>
          </a:prstGeom>
          <a:solidFill>
            <a:srgbClr val="2563EB">
              <a:alpha val="70000"/>
            </a:srgbClr>
          </a:solidFill>
          <a:ln/>
        </p:spPr>
      </p:sp>
      <p:sp>
        <p:nvSpPr>
          <p:cNvPr id="35" name="wave 30"/>
          <p:cNvSpPr/>
          <p:nvPr/>
        </p:nvSpPr>
        <p:spPr>
          <a:xfrm>
            <a:off x="3891579" y="3906781"/>
            <a:ext cx="62125" cy="233158"/>
          </a:xfrm>
          <a:prstGeom prst="roundRect">
            <a:avLst>
              <a:gd name="adj" fmla="val 50000"/>
            </a:avLst>
          </a:prstGeom>
          <a:solidFill>
            <a:srgbClr val="2563EB">
              <a:alpha val="70000"/>
            </a:srgbClr>
          </a:solidFill>
          <a:ln/>
        </p:spPr>
      </p:sp>
      <p:sp>
        <p:nvSpPr>
          <p:cNvPr id="36" name="wave 31"/>
          <p:cNvSpPr/>
          <p:nvPr/>
        </p:nvSpPr>
        <p:spPr>
          <a:xfrm>
            <a:off x="4004534" y="3932264"/>
            <a:ext cx="62125" cy="182193"/>
          </a:xfrm>
          <a:prstGeom prst="roundRect">
            <a:avLst>
              <a:gd name="adj" fmla="val 50000"/>
            </a:avLst>
          </a:prstGeom>
          <a:solidFill>
            <a:srgbClr val="2563EB">
              <a:alpha val="70000"/>
            </a:srgbClr>
          </a:solidFill>
          <a:ln/>
        </p:spPr>
      </p:sp>
      <p:sp>
        <p:nvSpPr>
          <p:cNvPr id="37" name="wave 32"/>
          <p:cNvSpPr/>
          <p:nvPr/>
        </p:nvSpPr>
        <p:spPr>
          <a:xfrm>
            <a:off x="4117489" y="3891740"/>
            <a:ext cx="62125" cy="263240"/>
          </a:xfrm>
          <a:prstGeom prst="roundRect">
            <a:avLst>
              <a:gd name="adj" fmla="val 50000"/>
            </a:avLst>
          </a:prstGeom>
          <a:solidFill>
            <a:srgbClr val="2563EB">
              <a:alpha val="70000"/>
            </a:srgbClr>
          </a:solidFill>
          <a:ln/>
        </p:spPr>
      </p:sp>
      <p:sp>
        <p:nvSpPr>
          <p:cNvPr id="38" name="wave 33"/>
          <p:cNvSpPr/>
          <p:nvPr/>
        </p:nvSpPr>
        <p:spPr>
          <a:xfrm>
            <a:off x="4230445" y="3943350"/>
            <a:ext cx="62125" cy="160020"/>
          </a:xfrm>
          <a:prstGeom prst="roundRect">
            <a:avLst>
              <a:gd name="adj" fmla="val 50000"/>
            </a:avLst>
          </a:prstGeom>
          <a:solidFill>
            <a:srgbClr val="2563EB">
              <a:alpha val="70000"/>
            </a:srgbClr>
          </a:solidFill>
          <a:ln/>
        </p:spPr>
      </p:sp>
      <p:sp>
        <p:nvSpPr>
          <p:cNvPr id="39" name="stat independent recordings behind 826 clips"/>
          <p:cNvSpPr/>
          <p:nvPr/>
        </p:nvSpPr>
        <p:spPr>
          <a:xfrm>
            <a:off x="4709160" y="1143000"/>
            <a:ext cx="1874520" cy="1463040"/>
          </a:xfrm>
          <a:prstGeom prst="roundRect">
            <a:avLst>
              <a:gd name="adj" fmla="val 7500"/>
            </a:avLst>
          </a:prstGeom>
          <a:solidFill>
            <a:srgbClr val="F3F4F9"/>
          </a:solidFill>
          <a:ln/>
        </p:spPr>
      </p:sp>
      <p:sp>
        <p:nvSpPr>
          <p:cNvPr id="40" name="Text 38"/>
          <p:cNvSpPr txBox="1"/>
          <p:nvPr/>
        </p:nvSpPr>
        <p:spPr>
          <a:xfrm>
            <a:off x="4892040" y="1325880"/>
            <a:ext cx="1554480" cy="548640"/>
          </a:xfrm>
          <a:prstGeom prst="rect">
            <a:avLst/>
          </a:prstGeom>
          <a:noFill/>
          <a:ln/>
        </p:spPr>
        <p:txBody>
          <a:bodyPr wrap="square" lIns="0" tIns="0" rIns="0" bIns="0" rtlCol="0" anchor="t"/>
          <a:lstStyle/>
          <a:p>
            <a:pPr indent="0" marL="0">
              <a:buNone/>
            </a:pPr>
            <a:r>
              <a:rPr lang="en-US" sz="2800" b="1" dirty="0">
                <a:solidFill>
                  <a:srgbClr val="D97706"/>
                </a:solidFill>
                <a:latin typeface="Cambria" pitchFamily="34" charset="0"/>
                <a:ea typeface="Cambria" pitchFamily="34" charset="-122"/>
                <a:cs typeface="Cambria" pitchFamily="34" charset="-120"/>
              </a:rPr>
              <a:t>689</a:t>
            </a:r>
            <a:endParaRPr lang="en-US" sz="2800" dirty="0"/>
          </a:p>
        </p:txBody>
      </p:sp>
      <p:sp>
        <p:nvSpPr>
          <p:cNvPr id="41" name="Text 39"/>
          <p:cNvSpPr txBox="1"/>
          <p:nvPr/>
        </p:nvSpPr>
        <p:spPr>
          <a:xfrm>
            <a:off x="4892040" y="1920240"/>
            <a:ext cx="1554480" cy="59436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independent recordings behind 826 clips</a:t>
            </a:r>
            <a:endParaRPr lang="en-US" sz="1100" dirty="0"/>
          </a:p>
        </p:txBody>
      </p:sp>
      <p:sp>
        <p:nvSpPr>
          <p:cNvPr id="42" name="stat label agreement between twins"/>
          <p:cNvSpPr/>
          <p:nvPr/>
        </p:nvSpPr>
        <p:spPr>
          <a:xfrm>
            <a:off x="6720840" y="1143000"/>
            <a:ext cx="1874520" cy="1463040"/>
          </a:xfrm>
          <a:prstGeom prst="roundRect">
            <a:avLst>
              <a:gd name="adj" fmla="val 7500"/>
            </a:avLst>
          </a:prstGeom>
          <a:solidFill>
            <a:srgbClr val="F3F4F9"/>
          </a:solidFill>
          <a:ln/>
        </p:spPr>
      </p:sp>
      <p:sp>
        <p:nvSpPr>
          <p:cNvPr id="43" name="Text 41"/>
          <p:cNvSpPr txBox="1"/>
          <p:nvPr/>
        </p:nvSpPr>
        <p:spPr>
          <a:xfrm>
            <a:off x="6903720" y="1325880"/>
            <a:ext cx="1554480" cy="548640"/>
          </a:xfrm>
          <a:prstGeom prst="rect">
            <a:avLst/>
          </a:prstGeom>
          <a:noFill/>
          <a:ln/>
        </p:spPr>
        <p:txBody>
          <a:bodyPr wrap="square" lIns="0" tIns="0" rIns="0" bIns="0" rtlCol="0" anchor="t"/>
          <a:lstStyle/>
          <a:p>
            <a:pPr indent="0" marL="0">
              <a:buNone/>
            </a:pPr>
            <a:r>
              <a:rPr lang="en-US" sz="2800" b="1" dirty="0">
                <a:solidFill>
                  <a:srgbClr val="059669"/>
                </a:solidFill>
                <a:latin typeface="Cambria" pitchFamily="34" charset="0"/>
                <a:ea typeface="Cambria" pitchFamily="34" charset="-122"/>
                <a:cs typeface="Cambria" pitchFamily="34" charset="-120"/>
              </a:rPr>
              <a:t>99.1%</a:t>
            </a:r>
            <a:endParaRPr lang="en-US" sz="2800" dirty="0"/>
          </a:p>
        </p:txBody>
      </p:sp>
      <p:sp>
        <p:nvSpPr>
          <p:cNvPr id="44" name="Text 42"/>
          <p:cNvSpPr txBox="1"/>
          <p:nvPr/>
        </p:nvSpPr>
        <p:spPr>
          <a:xfrm>
            <a:off x="6903720" y="1920240"/>
            <a:ext cx="1554480" cy="59436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label agreement between twins</a:t>
            </a:r>
            <a:endParaRPr lang="en-US" sz="1100" dirty="0"/>
          </a:p>
        </p:txBody>
      </p:sp>
      <p:sp>
        <p:nvSpPr>
          <p:cNvPr id="45" name="stat test clips with a training twin"/>
          <p:cNvSpPr/>
          <p:nvPr/>
        </p:nvSpPr>
        <p:spPr>
          <a:xfrm>
            <a:off x="4709160" y="2788920"/>
            <a:ext cx="1874520" cy="1463040"/>
          </a:xfrm>
          <a:prstGeom prst="roundRect">
            <a:avLst>
              <a:gd name="adj" fmla="val 7500"/>
            </a:avLst>
          </a:prstGeom>
          <a:solidFill>
            <a:srgbClr val="F3F4F9"/>
          </a:solidFill>
          <a:ln/>
        </p:spPr>
      </p:sp>
      <p:sp>
        <p:nvSpPr>
          <p:cNvPr id="46" name="Text 44"/>
          <p:cNvSpPr txBox="1"/>
          <p:nvPr/>
        </p:nvSpPr>
        <p:spPr>
          <a:xfrm>
            <a:off x="4892040" y="2971800"/>
            <a:ext cx="1554480" cy="548640"/>
          </a:xfrm>
          <a:prstGeom prst="rect">
            <a:avLst/>
          </a:prstGeom>
          <a:noFill/>
          <a:ln/>
        </p:spPr>
        <p:txBody>
          <a:bodyPr wrap="square" lIns="0" tIns="0" rIns="0" bIns="0" rtlCol="0" anchor="t"/>
          <a:lstStyle/>
          <a:p>
            <a:pPr indent="0" marL="0">
              <a:buNone/>
            </a:pPr>
            <a:r>
              <a:rPr lang="en-US" sz="2800" b="1" dirty="0">
                <a:solidFill>
                  <a:srgbClr val="2563EB"/>
                </a:solidFill>
                <a:latin typeface="Cambria" pitchFamily="34" charset="0"/>
                <a:ea typeface="Cambria" pitchFamily="34" charset="-122"/>
                <a:cs typeface="Cambria" pitchFamily="34" charset="-120"/>
              </a:rPr>
              <a:t>60</a:t>
            </a:r>
            <a:endParaRPr lang="en-US" sz="2800" dirty="0"/>
          </a:p>
        </p:txBody>
      </p:sp>
      <p:sp>
        <p:nvSpPr>
          <p:cNvPr id="47" name="Text 45"/>
          <p:cNvSpPr txBox="1"/>
          <p:nvPr/>
        </p:nvSpPr>
        <p:spPr>
          <a:xfrm>
            <a:off x="4892040" y="3566160"/>
            <a:ext cx="1554480" cy="59436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test clips with a training twin</a:t>
            </a:r>
            <a:endParaRPr lang="en-US" sz="1100" dirty="0"/>
          </a:p>
        </p:txBody>
      </p:sp>
      <p:sp>
        <p:nvSpPr>
          <p:cNvPr id="48" name="stat private F1 per test clip"/>
          <p:cNvSpPr/>
          <p:nvPr/>
        </p:nvSpPr>
        <p:spPr>
          <a:xfrm>
            <a:off x="6720840" y="2788920"/>
            <a:ext cx="1874520" cy="1463040"/>
          </a:xfrm>
          <a:prstGeom prst="roundRect">
            <a:avLst>
              <a:gd name="adj" fmla="val 7500"/>
            </a:avLst>
          </a:prstGeom>
          <a:solidFill>
            <a:srgbClr val="F3F4F9"/>
          </a:solidFill>
          <a:ln/>
        </p:spPr>
      </p:sp>
      <p:sp>
        <p:nvSpPr>
          <p:cNvPr id="49" name="Text 47"/>
          <p:cNvSpPr txBox="1"/>
          <p:nvPr/>
        </p:nvSpPr>
        <p:spPr>
          <a:xfrm>
            <a:off x="6903720" y="2971800"/>
            <a:ext cx="1554480" cy="548640"/>
          </a:xfrm>
          <a:prstGeom prst="rect">
            <a:avLst/>
          </a:prstGeom>
          <a:noFill/>
          <a:ln/>
        </p:spPr>
        <p:txBody>
          <a:bodyPr wrap="square" lIns="0" tIns="0" rIns="0" bIns="0" rtlCol="0" anchor="t"/>
          <a:lstStyle/>
          <a:p>
            <a:pPr indent="0" marL="0">
              <a:buNone/>
            </a:pPr>
            <a:r>
              <a:rPr lang="en-US" sz="2800" b="1" dirty="0">
                <a:solidFill>
                  <a:srgbClr val="E11D48"/>
                </a:solidFill>
                <a:latin typeface="Cambria" pitchFamily="34" charset="0"/>
                <a:ea typeface="Cambria" pitchFamily="34" charset="-122"/>
                <a:cs typeface="Cambria" pitchFamily="34" charset="-120"/>
              </a:rPr>
              <a:t>≈0.008</a:t>
            </a:r>
            <a:endParaRPr lang="en-US" sz="2800" dirty="0"/>
          </a:p>
        </p:txBody>
      </p:sp>
      <p:sp>
        <p:nvSpPr>
          <p:cNvPr id="50" name="Text 48"/>
          <p:cNvSpPr txBox="1"/>
          <p:nvPr/>
        </p:nvSpPr>
        <p:spPr>
          <a:xfrm>
            <a:off x="6903720" y="3566160"/>
            <a:ext cx="1554480" cy="59436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private F1 per test clip</a:t>
            </a:r>
            <a:endParaRPr lang="en-US" sz="11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lIns="0" tIns="0" rIns="0" bIns="0" rtlCol="0" anchor="ctr"/>
          <a:lstStyle/>
          <a:p>
            <a:pPr algn="l" indent="0" marL="0">
              <a:buNone/>
            </a:pPr>
            <a:r>
              <a:rPr lang="en-US" sz="2600" b="1" dirty="0">
                <a:solidFill>
                  <a:srgbClr val="0F172A"/>
                </a:solidFill>
              </a:rPr>
              <a:t>Honest validation: grouped folds or nothing</a:t>
            </a:r>
            <a:endParaRPr lang="en-US" sz="2600" dirty="0"/>
          </a:p>
        </p:txBody>
      </p:sp>
      <p:graphicFrame>
        <p:nvGraphicFramePr>
          <p:cNvPr id="3" name="Chart 0" descr=""/>
          <p:cNvGraphicFramePr/>
          <p:nvPr/>
        </p:nvGraphicFramePr>
        <p:xfrm>
          <a:off x="365760" y="1097280"/>
          <a:ext cx="4754880" cy="3520440"/>
        </p:xfrm>
        <a:graphic xmlns:a="http://schemas.openxmlformats.org/drawingml/2006/main">
          <a:graphicData uri="http://schemas.openxmlformats.org/drawingml/2006/chart">
            <c:chart xmlns:c="http://schemas.openxmlformats.org/drawingml/2006/chart" r:id="rId1"/>
          </a:graphicData>
        </a:graphic>
      </p:graphicFrame>
      <p:sp>
        <p:nvSpPr>
          <p:cNvPr id="4" name="callout leak"/>
          <p:cNvSpPr/>
          <p:nvPr/>
        </p:nvSpPr>
        <p:spPr>
          <a:xfrm>
            <a:off x="5394960" y="1188720"/>
            <a:ext cx="3246120" cy="1417320"/>
          </a:xfrm>
          <a:prstGeom prst="roundRect">
            <a:avLst>
              <a:gd name="adj" fmla="val 7742"/>
            </a:avLst>
          </a:prstGeom>
          <a:solidFill>
            <a:srgbClr val="F3F4F9"/>
          </a:solidFill>
          <a:ln/>
        </p:spPr>
      </p:sp>
      <p:sp>
        <p:nvSpPr>
          <p:cNvPr id="5" name="Text 2"/>
          <p:cNvSpPr txBox="1"/>
          <p:nvPr/>
        </p:nvSpPr>
        <p:spPr>
          <a:xfrm>
            <a:off x="5623560" y="1298448"/>
            <a:ext cx="2834640" cy="685800"/>
          </a:xfrm>
          <a:prstGeom prst="rect">
            <a:avLst/>
          </a:prstGeom>
          <a:noFill/>
          <a:ln/>
        </p:spPr>
        <p:txBody>
          <a:bodyPr wrap="square" lIns="0" tIns="0" rIns="0" bIns="0" rtlCol="0" anchor="t"/>
          <a:lstStyle/>
          <a:p>
            <a:pPr indent="0" marL="0">
              <a:buNone/>
            </a:pPr>
            <a:r>
              <a:rPr lang="en-US" sz="4000" b="1" dirty="0">
                <a:solidFill>
                  <a:srgbClr val="E11D48"/>
                </a:solidFill>
                <a:latin typeface="Cambria" pitchFamily="34" charset="0"/>
                <a:ea typeface="Cambria" pitchFamily="34" charset="-122"/>
                <a:cs typeface="Cambria" pitchFamily="34" charset="-120"/>
              </a:rPr>
              <a:t>−0.04</a:t>
            </a:r>
            <a:endParaRPr lang="en-US" sz="4000" dirty="0"/>
          </a:p>
        </p:txBody>
      </p:sp>
      <p:sp>
        <p:nvSpPr>
          <p:cNvPr id="6" name="Text 3"/>
          <p:cNvSpPr txBox="1"/>
          <p:nvPr/>
        </p:nvSpPr>
        <p:spPr>
          <a:xfrm>
            <a:off x="5623560" y="1965960"/>
            <a:ext cx="2834640" cy="54864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of fake skill from near-duplicates leaking across random folds</a:t>
            </a:r>
            <a:endParaRPr lang="en-US" sz="1150" dirty="0"/>
          </a:p>
        </p:txBody>
      </p:sp>
      <p:sp>
        <p:nvSpPr>
          <p:cNvPr id="7" name="Text 4"/>
          <p:cNvSpPr txBox="1"/>
          <p:nvPr/>
        </p:nvSpPr>
        <p:spPr>
          <a:xfrm>
            <a:off x="5394960" y="2834640"/>
            <a:ext cx="324612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StratifiedGroupKFold over 689 near-duplicate groups removes the leak.</a:t>
            </a:r>
            <a:endParaRPr lang="en-US" sz="1200" dirty="0"/>
          </a:p>
          <a:p>
            <a:pPr marL="342900" indent="-342900">
              <a:spcAft>
                <a:spcPts val="600"/>
              </a:spcAft>
              <a:buSzPct val="100000"/>
              <a:buChar char="•"/>
            </a:pPr>
            <a:r>
              <a:rPr lang="en-US" sz="1200" dirty="0">
                <a:solidFill>
                  <a:srgbClr val="475569"/>
                </a:solidFill>
                <a:latin typeface="Calibri" pitchFamily="34" charset="0"/>
                <a:ea typeface="Calibri" pitchFamily="34" charset="-122"/>
                <a:cs typeface="Calibri" pitchFamily="34" charset="-120"/>
              </a:rPr>
              <a:t>The public score (0.917) matched the honest estimate, not the inflated one.</a:t>
            </a:r>
            <a:endParaRPr lang="en-US" sz="1200" dirty="0"/>
          </a:p>
          <a:p>
            <a:pPr marL="342900" indent="-342900">
              <a:spcAft>
                <a:spcPts val="600"/>
              </a:spcAft>
              <a:buSzPct val="100000"/>
              <a:buChar char="•"/>
            </a:pPr>
            <a:r>
              <a:rPr lang="en-US" sz="1200" b="1" dirty="0">
                <a:solidFill>
                  <a:srgbClr val="0F172A"/>
                </a:solidFill>
                <a:latin typeface="Calibri" pitchFamily="34" charset="0"/>
                <a:ea typeface="Calibri" pitchFamily="34" charset="-122"/>
                <a:cs typeface="Calibri" pitchFamily="34" charset="-120"/>
              </a:rPr>
              <a:t>Every number after this is leakage-free.</a:t>
            </a:r>
            <a:endParaRPr lang="en-US" sz="12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lIns="0" tIns="0" rIns="0" bIns="0" rtlCol="0" anchor="ctr"/>
          <a:lstStyle/>
          <a:p>
            <a:pPr algn="l" indent="0" marL="0">
              <a:buNone/>
            </a:pPr>
            <a:r>
              <a:rPr lang="en-US" sz="2600" b="1" dirty="0">
                <a:solidFill>
                  <a:srgbClr val="0F172A"/>
                </a:solidFill>
              </a:rPr>
              <a:t>Decision protocol: pre-register, repeat, then adopt</a:t>
            </a:r>
            <a:endParaRPr lang="en-US" sz="2600" dirty="0"/>
          </a:p>
        </p:txBody>
      </p:sp>
      <p:sp>
        <p:nvSpPr>
          <p:cNvPr id="3" name="step Write it down"/>
          <p:cNvSpPr/>
          <p:nvPr/>
        </p:nvSpPr>
        <p:spPr>
          <a:xfrm>
            <a:off x="502920" y="1234440"/>
            <a:ext cx="1874520" cy="2103120"/>
          </a:xfrm>
          <a:prstGeom prst="roundRect">
            <a:avLst>
              <a:gd name="adj" fmla="val 5854"/>
            </a:avLst>
          </a:prstGeom>
          <a:solidFill>
            <a:srgbClr val="F3F4F9"/>
          </a:solidFill>
          <a:ln/>
        </p:spPr>
      </p:sp>
      <p:sp>
        <p:nvSpPr>
          <p:cNvPr id="4" name="badge LuFileText"/>
          <p:cNvSpPr/>
          <p:nvPr/>
        </p:nvSpPr>
        <p:spPr>
          <a:xfrm>
            <a:off x="685800" y="1417320"/>
            <a:ext cx="548640" cy="548640"/>
          </a:xfrm>
          <a:prstGeom prst="ellipse">
            <a:avLst/>
          </a:prstGeom>
          <a:solidFill>
            <a:srgbClr val="E11D48">
              <a:alpha val="20000"/>
            </a:srgbClr>
          </a:solidFill>
          <a:ln/>
        </p:spPr>
      </p:sp>
      <p:pic>
        <p:nvPicPr>
          <p:cNvPr id="5" name="Image 0" descr="FileText icon">    </p:cNvPr>
          <p:cNvPicPr>
            <a:picLocks noChangeAspect="1"/>
          </p:cNvPicPr>
          <p:nvPr/>
        </p:nvPicPr>
        <p:blipFill>
          <a:blip r:embed="rId1"/>
          <a:stretch>
            <a:fillRect/>
          </a:stretch>
        </p:blipFill>
        <p:spPr>
          <a:xfrm>
            <a:off x="806501" y="1538021"/>
            <a:ext cx="307238" cy="307238"/>
          </a:xfrm>
          <a:prstGeom prst="rect">
            <a:avLst/>
          </a:prstGeom>
        </p:spPr>
      </p:pic>
      <p:sp>
        <p:nvSpPr>
          <p:cNvPr id="6" name="Text 3"/>
          <p:cNvSpPr txBox="1"/>
          <p:nvPr/>
        </p:nvSpPr>
        <p:spPr>
          <a:xfrm>
            <a:off x="685800" y="2103120"/>
            <a:ext cx="155448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Write it down</a:t>
            </a:r>
            <a:endParaRPr lang="en-US" sz="1500" dirty="0"/>
          </a:p>
        </p:txBody>
      </p:sp>
      <p:sp>
        <p:nvSpPr>
          <p:cNvPr id="7" name="Text 4"/>
          <p:cNvSpPr txBox="1"/>
          <p:nvPr/>
        </p:nvSpPr>
        <p:spPr>
          <a:xfrm>
            <a:off x="685800" y="2487168"/>
            <a:ext cx="1554480" cy="77724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Recipe and blend slot fixed before scoring</a:t>
            </a:r>
            <a:endParaRPr lang="en-US" sz="1150" dirty="0"/>
          </a:p>
        </p:txBody>
      </p:sp>
      <p:sp>
        <p:nvSpPr>
          <p:cNvPr id="8" name="flow 0"/>
          <p:cNvSpPr/>
          <p:nvPr/>
        </p:nvSpPr>
        <p:spPr>
          <a:xfrm>
            <a:off x="2395728" y="2286000"/>
            <a:ext cx="173736" cy="0"/>
          </a:xfrm>
          <a:prstGeom prst="line">
            <a:avLst/>
          </a:prstGeom>
          <a:noFill/>
          <a:ln w="19050">
            <a:solidFill>
              <a:srgbClr val="475569"/>
            </a:solidFill>
            <a:prstDash val="solid"/>
            <a:tailEnd type="triangle"/>
          </a:ln>
        </p:spPr>
      </p:sp>
      <p:sp>
        <p:nvSpPr>
          <p:cNvPr id="9" name="step Three splits"/>
          <p:cNvSpPr/>
          <p:nvPr/>
        </p:nvSpPr>
        <p:spPr>
          <a:xfrm>
            <a:off x="2587752" y="1234440"/>
            <a:ext cx="1874520" cy="2103120"/>
          </a:xfrm>
          <a:prstGeom prst="roundRect">
            <a:avLst>
              <a:gd name="adj" fmla="val 5854"/>
            </a:avLst>
          </a:prstGeom>
          <a:solidFill>
            <a:srgbClr val="F3F4F9"/>
          </a:solidFill>
          <a:ln/>
        </p:spPr>
      </p:sp>
      <p:sp>
        <p:nvSpPr>
          <p:cNvPr id="10" name="badge LuLayers"/>
          <p:cNvSpPr/>
          <p:nvPr/>
        </p:nvSpPr>
        <p:spPr>
          <a:xfrm>
            <a:off x="2770632" y="1417320"/>
            <a:ext cx="548640" cy="548640"/>
          </a:xfrm>
          <a:prstGeom prst="ellipse">
            <a:avLst/>
          </a:prstGeom>
          <a:solidFill>
            <a:srgbClr val="D97706">
              <a:alpha val="20000"/>
            </a:srgbClr>
          </a:solidFill>
          <a:ln/>
        </p:spPr>
      </p:sp>
      <p:pic>
        <p:nvPicPr>
          <p:cNvPr id="11" name="Image 1" descr="Layers icon">    </p:cNvPr>
          <p:cNvPicPr>
            <a:picLocks noChangeAspect="1"/>
          </p:cNvPicPr>
          <p:nvPr/>
        </p:nvPicPr>
        <p:blipFill>
          <a:blip r:embed="rId2"/>
          <a:stretch>
            <a:fillRect/>
          </a:stretch>
        </p:blipFill>
        <p:spPr>
          <a:xfrm>
            <a:off x="2891333" y="1538021"/>
            <a:ext cx="307238" cy="307238"/>
          </a:xfrm>
          <a:prstGeom prst="rect">
            <a:avLst/>
          </a:prstGeom>
        </p:spPr>
      </p:pic>
      <p:sp>
        <p:nvSpPr>
          <p:cNvPr id="12" name="Text 8"/>
          <p:cNvSpPr txBox="1"/>
          <p:nvPr/>
        </p:nvSpPr>
        <p:spPr>
          <a:xfrm>
            <a:off x="2770632" y="2103120"/>
            <a:ext cx="155448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Three splits</a:t>
            </a:r>
            <a:endParaRPr lang="en-US" sz="1500" dirty="0"/>
          </a:p>
        </p:txBody>
      </p:sp>
      <p:sp>
        <p:nvSpPr>
          <p:cNvPr id="13" name="Text 9"/>
          <p:cNvSpPr txBox="1"/>
          <p:nvPr/>
        </p:nvSpPr>
        <p:spPr>
          <a:xfrm>
            <a:off x="2770632" y="2487168"/>
            <a:ext cx="1554480" cy="77724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All members retrained on 3 grouped re-splits</a:t>
            </a:r>
            <a:endParaRPr lang="en-US" sz="1150" dirty="0"/>
          </a:p>
        </p:txBody>
      </p:sp>
      <p:sp>
        <p:nvSpPr>
          <p:cNvPr id="14" name="flow 1"/>
          <p:cNvSpPr/>
          <p:nvPr/>
        </p:nvSpPr>
        <p:spPr>
          <a:xfrm>
            <a:off x="4480560" y="2286000"/>
            <a:ext cx="173736" cy="0"/>
          </a:xfrm>
          <a:prstGeom prst="line">
            <a:avLst/>
          </a:prstGeom>
          <a:noFill/>
          <a:ln w="19050">
            <a:solidFill>
              <a:srgbClr val="475569"/>
            </a:solidFill>
            <a:prstDash val="solid"/>
            <a:tailEnd type="triangle"/>
          </a:ln>
        </p:spPr>
      </p:sp>
      <p:sp>
        <p:nvSpPr>
          <p:cNvPr id="15" name="step Pass the gate"/>
          <p:cNvSpPr/>
          <p:nvPr/>
        </p:nvSpPr>
        <p:spPr>
          <a:xfrm>
            <a:off x="4672584" y="1234440"/>
            <a:ext cx="1874520" cy="2103120"/>
          </a:xfrm>
          <a:prstGeom prst="roundRect">
            <a:avLst>
              <a:gd name="adj" fmla="val 5854"/>
            </a:avLst>
          </a:prstGeom>
          <a:solidFill>
            <a:srgbClr val="E8711A"/>
          </a:solidFill>
          <a:ln/>
        </p:spPr>
      </p:sp>
      <p:sp>
        <p:nvSpPr>
          <p:cNvPr id="16" name="badge LuShieldCheck"/>
          <p:cNvSpPr/>
          <p:nvPr/>
        </p:nvSpPr>
        <p:spPr>
          <a:xfrm>
            <a:off x="4855464" y="1417320"/>
            <a:ext cx="548640" cy="548640"/>
          </a:xfrm>
          <a:prstGeom prst="ellipse">
            <a:avLst/>
          </a:prstGeom>
          <a:solidFill>
            <a:srgbClr val="0F172A"/>
          </a:solidFill>
          <a:ln/>
        </p:spPr>
      </p:sp>
      <p:pic>
        <p:nvPicPr>
          <p:cNvPr id="17" name="Image 2" descr="ShieldCheck icon">    </p:cNvPr>
          <p:cNvPicPr>
            <a:picLocks noChangeAspect="1"/>
          </p:cNvPicPr>
          <p:nvPr/>
        </p:nvPicPr>
        <p:blipFill>
          <a:blip r:embed="rId3"/>
          <a:stretch>
            <a:fillRect/>
          </a:stretch>
        </p:blipFill>
        <p:spPr>
          <a:xfrm>
            <a:off x="4976165" y="1538021"/>
            <a:ext cx="307238" cy="307238"/>
          </a:xfrm>
          <a:prstGeom prst="rect">
            <a:avLst/>
          </a:prstGeom>
        </p:spPr>
      </p:pic>
      <p:sp>
        <p:nvSpPr>
          <p:cNvPr id="18" name="Text 13"/>
          <p:cNvSpPr txBox="1"/>
          <p:nvPr/>
        </p:nvSpPr>
        <p:spPr>
          <a:xfrm>
            <a:off x="4855464" y="2103120"/>
            <a:ext cx="155448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Pass the gate</a:t>
            </a:r>
            <a:endParaRPr lang="en-US" sz="1500" dirty="0"/>
          </a:p>
        </p:txBody>
      </p:sp>
      <p:sp>
        <p:nvSpPr>
          <p:cNvPr id="19" name="Text 14"/>
          <p:cNvSpPr txBox="1"/>
          <p:nvPr/>
        </p:nvSpPr>
        <p:spPr>
          <a:xfrm>
            <a:off x="4855464" y="2487168"/>
            <a:ext cx="1554480" cy="7772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Mean gain ≥ +0.005 and &gt; 0 on every split</a:t>
            </a:r>
            <a:endParaRPr lang="en-US" sz="1150" dirty="0"/>
          </a:p>
        </p:txBody>
      </p:sp>
      <p:sp>
        <p:nvSpPr>
          <p:cNvPr id="20" name="flow 2"/>
          <p:cNvSpPr/>
          <p:nvPr/>
        </p:nvSpPr>
        <p:spPr>
          <a:xfrm>
            <a:off x="6565392" y="2286000"/>
            <a:ext cx="173736" cy="0"/>
          </a:xfrm>
          <a:prstGeom prst="line">
            <a:avLst/>
          </a:prstGeom>
          <a:noFill/>
          <a:ln w="19050">
            <a:solidFill>
              <a:srgbClr val="475569"/>
            </a:solidFill>
            <a:prstDash val="solid"/>
            <a:tailEnd type="triangle"/>
          </a:ln>
        </p:spPr>
      </p:sp>
      <p:sp>
        <p:nvSpPr>
          <p:cNvPr id="21" name="step Then adopt"/>
          <p:cNvSpPr/>
          <p:nvPr/>
        </p:nvSpPr>
        <p:spPr>
          <a:xfrm>
            <a:off x="6757416" y="1234440"/>
            <a:ext cx="1874520" cy="2103120"/>
          </a:xfrm>
          <a:prstGeom prst="roundRect">
            <a:avLst>
              <a:gd name="adj" fmla="val 5854"/>
            </a:avLst>
          </a:prstGeom>
          <a:solidFill>
            <a:srgbClr val="F3F4F9"/>
          </a:solidFill>
          <a:ln/>
        </p:spPr>
      </p:sp>
      <p:sp>
        <p:nvSpPr>
          <p:cNvPr id="22" name="badge LuCircleCheck"/>
          <p:cNvSpPr/>
          <p:nvPr/>
        </p:nvSpPr>
        <p:spPr>
          <a:xfrm>
            <a:off x="6940296" y="1417320"/>
            <a:ext cx="548640" cy="548640"/>
          </a:xfrm>
          <a:prstGeom prst="ellipse">
            <a:avLst/>
          </a:prstGeom>
          <a:solidFill>
            <a:srgbClr val="2563EB">
              <a:alpha val="20000"/>
            </a:srgbClr>
          </a:solidFill>
          <a:ln/>
        </p:spPr>
      </p:sp>
      <p:pic>
        <p:nvPicPr>
          <p:cNvPr id="23" name="Image 3" descr="CircleCheck icon">    </p:cNvPr>
          <p:cNvPicPr>
            <a:picLocks noChangeAspect="1"/>
          </p:cNvPicPr>
          <p:nvPr/>
        </p:nvPicPr>
        <p:blipFill>
          <a:blip r:embed="rId4"/>
          <a:stretch>
            <a:fillRect/>
          </a:stretch>
        </p:blipFill>
        <p:spPr>
          <a:xfrm>
            <a:off x="7060997" y="1538021"/>
            <a:ext cx="307238" cy="307238"/>
          </a:xfrm>
          <a:prstGeom prst="rect">
            <a:avLst/>
          </a:prstGeom>
        </p:spPr>
      </p:pic>
      <p:sp>
        <p:nvSpPr>
          <p:cNvPr id="24" name="Text 18"/>
          <p:cNvSpPr txBox="1"/>
          <p:nvPr/>
        </p:nvSpPr>
        <p:spPr>
          <a:xfrm>
            <a:off x="6940296" y="2103120"/>
            <a:ext cx="155448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Then adopt</a:t>
            </a:r>
            <a:endParaRPr lang="en-US" sz="1500" dirty="0"/>
          </a:p>
        </p:txBody>
      </p:sp>
      <p:sp>
        <p:nvSpPr>
          <p:cNvPr id="25" name="Text 19"/>
          <p:cNvSpPr txBox="1"/>
          <p:nvPr/>
        </p:nvSpPr>
        <p:spPr>
          <a:xfrm>
            <a:off x="6940296" y="2487168"/>
            <a:ext cx="1554480" cy="77724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Never tuned on the public board</a:t>
            </a:r>
            <a:endParaRPr lang="en-US" sz="1150" dirty="0"/>
          </a:p>
        </p:txBody>
      </p:sp>
      <p:sp>
        <p:nvSpPr>
          <p:cNvPr id="26" name="funnel"/>
          <p:cNvSpPr/>
          <p:nvPr/>
        </p:nvSpPr>
        <p:spPr>
          <a:xfrm>
            <a:off x="502920" y="3611880"/>
            <a:ext cx="8138160" cy="960120"/>
          </a:xfrm>
          <a:prstGeom prst="roundRect">
            <a:avLst>
              <a:gd name="adj" fmla="val 11429"/>
            </a:avLst>
          </a:prstGeom>
          <a:solidFill>
            <a:srgbClr val="F3F4F9"/>
          </a:solidFill>
          <a:ln/>
        </p:spPr>
      </p:sp>
      <p:sp>
        <p:nvSpPr>
          <p:cNvPr id="27" name="Text 21"/>
          <p:cNvSpPr txBox="1"/>
          <p:nvPr/>
        </p:nvSpPr>
        <p:spPr>
          <a:xfrm>
            <a:off x="731520" y="3703320"/>
            <a:ext cx="1920240" cy="777240"/>
          </a:xfrm>
          <a:prstGeom prst="rect">
            <a:avLst/>
          </a:prstGeom>
          <a:noFill/>
          <a:ln/>
        </p:spPr>
        <p:txBody>
          <a:bodyPr wrap="square" lIns="0" tIns="0" rIns="0" bIns="0" rtlCol="0" anchor="ctr"/>
          <a:lstStyle/>
          <a:p>
            <a:pPr indent="0" marL="0">
              <a:buNone/>
            </a:pPr>
            <a:r>
              <a:rPr lang="en-US" sz="3600" b="1" dirty="0">
                <a:solidFill>
                  <a:srgbClr val="E8711A"/>
                </a:solidFill>
                <a:latin typeface="Cambria" pitchFamily="34" charset="0"/>
                <a:ea typeface="Cambria" pitchFamily="34" charset="-122"/>
                <a:cs typeface="Cambria" pitchFamily="34" charset="-120"/>
              </a:rPr>
              <a:t>50 → 4</a:t>
            </a:r>
            <a:endParaRPr lang="en-US" sz="3600" dirty="0"/>
          </a:p>
        </p:txBody>
      </p:sp>
      <p:sp>
        <p:nvSpPr>
          <p:cNvPr id="28" name="Text 22"/>
          <p:cNvSpPr txBox="1"/>
          <p:nvPr/>
        </p:nvSpPr>
        <p:spPr>
          <a:xfrm>
            <a:off x="2743200" y="3749040"/>
            <a:ext cx="5715000" cy="731520"/>
          </a:xfrm>
          <a:prstGeom prst="rect">
            <a:avLst/>
          </a:prstGeom>
          <a:noFill/>
          <a:ln/>
        </p:spPr>
        <p:txBody>
          <a:bodyPr wrap="square" lIns="0" tIns="0" rIns="0" bIns="0" rtlCol="0" anchor="ctr"/>
          <a:lstStyle/>
          <a:p>
            <a:pPr indent="0" marL="0">
              <a:buNone/>
            </a:pPr>
            <a:r>
              <a:rPr lang="en-US" sz="1250" dirty="0">
                <a:solidFill>
                  <a:srgbClr val="475569"/>
                </a:solidFill>
                <a:latin typeface="Calibri" pitchFamily="34" charset="0"/>
                <a:ea typeface="Calibri" pitchFamily="34" charset="-122"/>
                <a:cs typeface="Calibri" pitchFamily="34" charset="-120"/>
              </a:rPr>
              <a:t>Blend CV moves ±0.01 between re-splits, so smaller gains are noise. About fifty ideas entered; four passed. That is why both our gains and our failures can be trusted.</a:t>
            </a:r>
            <a:endParaRPr lang="en-US" sz="125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lIns="0" tIns="0" rIns="0" bIns="0" rtlCol="0" anchor="ctr"/>
          <a:lstStyle/>
          <a:p>
            <a:pPr algn="l" indent="0" marL="0">
              <a:buNone/>
            </a:pPr>
            <a:r>
              <a:rPr lang="en-US" sz="2600" b="1" dirty="0">
                <a:solidFill>
                  <a:srgbClr val="0F172A"/>
                </a:solidFill>
              </a:rPr>
              <a:t>Architecture: six views of every clip</a:t>
            </a:r>
            <a:endParaRPr lang="en-US" sz="2600" dirty="0"/>
          </a:p>
        </p:txBody>
      </p:sp>
      <p:sp>
        <p:nvSpPr>
          <p:cNvPr id="3" name="input"/>
          <p:cNvSpPr/>
          <p:nvPr/>
        </p:nvSpPr>
        <p:spPr>
          <a:xfrm>
            <a:off x="365760" y="2148840"/>
            <a:ext cx="1371600" cy="914400"/>
          </a:xfrm>
          <a:prstGeom prst="roundRect">
            <a:avLst>
              <a:gd name="adj" fmla="val 12000"/>
            </a:avLst>
          </a:prstGeom>
          <a:solidFill>
            <a:srgbClr val="0F172A"/>
          </a:solidFill>
          <a:ln/>
        </p:spPr>
      </p:sp>
      <p:sp>
        <p:nvSpPr>
          <p:cNvPr id="4" name="Text 2"/>
          <p:cNvSpPr txBox="1"/>
          <p:nvPr/>
        </p:nvSpPr>
        <p:spPr>
          <a:xfrm>
            <a:off x="365760" y="2148840"/>
            <a:ext cx="137160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Audio clip</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16 kHz</a:t>
            </a:r>
            <a:endParaRPr lang="en-US" sz="1300" dirty="0"/>
          </a:p>
        </p:txBody>
      </p:sp>
      <p:sp>
        <p:nvSpPr>
          <p:cNvPr id="5" name="member Whisper-large-v3 · L24+L32 probe (augmented)"/>
          <p:cNvSpPr/>
          <p:nvPr/>
        </p:nvSpPr>
        <p:spPr>
          <a:xfrm>
            <a:off x="2286000" y="1097280"/>
            <a:ext cx="4023360" cy="420624"/>
          </a:xfrm>
          <a:prstGeom prst="roundRect">
            <a:avLst>
              <a:gd name="adj" fmla="val 17391"/>
            </a:avLst>
          </a:prstGeom>
          <a:solidFill>
            <a:srgbClr val="F3F4F9"/>
          </a:solidFill>
          <a:ln/>
        </p:spPr>
      </p:sp>
      <p:sp>
        <p:nvSpPr>
          <p:cNvPr id="6" name="dot member 0"/>
          <p:cNvSpPr/>
          <p:nvPr/>
        </p:nvSpPr>
        <p:spPr>
          <a:xfrm>
            <a:off x="2395728" y="1234440"/>
            <a:ext cx="146304" cy="146304"/>
          </a:xfrm>
          <a:prstGeom prst="ellipse">
            <a:avLst/>
          </a:prstGeom>
          <a:solidFill>
            <a:srgbClr val="E8711A"/>
          </a:solidFill>
          <a:ln/>
        </p:spPr>
      </p:sp>
      <p:sp>
        <p:nvSpPr>
          <p:cNvPr id="7" name="Text 5"/>
          <p:cNvSpPr txBox="1"/>
          <p:nvPr/>
        </p:nvSpPr>
        <p:spPr>
          <a:xfrm>
            <a:off x="2651760" y="1097280"/>
            <a:ext cx="3017520" cy="420624"/>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Whisper-large-v3 · L24+L32 probe (augmented)</a:t>
            </a:r>
            <a:endParaRPr lang="en-US" sz="1150" dirty="0"/>
          </a:p>
        </p:txBody>
      </p:sp>
      <p:sp>
        <p:nvSpPr>
          <p:cNvPr id="8" name="Text 6"/>
          <p:cNvSpPr txBox="1"/>
          <p:nvPr/>
        </p:nvSpPr>
        <p:spPr>
          <a:xfrm>
            <a:off x="5623560" y="1097280"/>
            <a:ext cx="594360" cy="420624"/>
          </a:xfrm>
          <a:prstGeom prst="rect">
            <a:avLst/>
          </a:prstGeom>
          <a:noFill/>
          <a:ln/>
        </p:spPr>
        <p:txBody>
          <a:bodyPr wrap="square" lIns="0" tIns="0" rIns="0" bIns="0" rtlCol="0" anchor="ctr"/>
          <a:lstStyle/>
          <a:p>
            <a:pPr algn="r" indent="0" marL="0">
              <a:buNone/>
            </a:pPr>
            <a:r>
              <a:rPr lang="en-US" sz="1300" b="1" dirty="0">
                <a:solidFill>
                  <a:srgbClr val="E8711A"/>
                </a:solidFill>
                <a:latin typeface="Calibri" pitchFamily="34" charset="0"/>
                <a:ea typeface="Calibri" pitchFamily="34" charset="-122"/>
                <a:cs typeface="Calibri" pitchFamily="34" charset="-120"/>
              </a:rPr>
              <a:t>20%</a:t>
            </a:r>
            <a:endParaRPr lang="en-US" sz="1300" dirty="0"/>
          </a:p>
        </p:txBody>
      </p:sp>
      <p:sp>
        <p:nvSpPr>
          <p:cNvPr id="9" name="edge in 0"/>
          <p:cNvSpPr/>
          <p:nvPr/>
        </p:nvSpPr>
        <p:spPr>
          <a:xfrm flipV="1">
            <a:off x="1737360" y="1307592"/>
            <a:ext cx="548640" cy="1298448"/>
          </a:xfrm>
          <a:prstGeom prst="line">
            <a:avLst/>
          </a:prstGeom>
          <a:noFill/>
          <a:ln w="12700">
            <a:solidFill>
              <a:srgbClr val="475569"/>
            </a:solidFill>
            <a:prstDash val="solid"/>
          </a:ln>
        </p:spPr>
      </p:sp>
      <p:sp>
        <p:nvSpPr>
          <p:cNvPr id="10" name="edge out 0"/>
          <p:cNvSpPr/>
          <p:nvPr/>
        </p:nvSpPr>
        <p:spPr>
          <a:xfrm>
            <a:off x="6309360" y="1307592"/>
            <a:ext cx="457200" cy="612648"/>
          </a:xfrm>
          <a:prstGeom prst="line">
            <a:avLst/>
          </a:prstGeom>
          <a:noFill/>
          <a:ln w="12700">
            <a:solidFill>
              <a:srgbClr val="475569"/>
            </a:solidFill>
            <a:prstDash val="solid"/>
          </a:ln>
        </p:spPr>
      </p:sp>
      <p:sp>
        <p:nvSpPr>
          <p:cNvPr id="11" name="member w2v-BERT 2.0 · L10+L16 probe"/>
          <p:cNvSpPr/>
          <p:nvPr/>
        </p:nvSpPr>
        <p:spPr>
          <a:xfrm>
            <a:off x="2286000" y="1627632"/>
            <a:ext cx="4023360" cy="420624"/>
          </a:xfrm>
          <a:prstGeom prst="roundRect">
            <a:avLst>
              <a:gd name="adj" fmla="val 17391"/>
            </a:avLst>
          </a:prstGeom>
          <a:solidFill>
            <a:srgbClr val="F3F4F9"/>
          </a:solidFill>
          <a:ln/>
        </p:spPr>
      </p:sp>
      <p:sp>
        <p:nvSpPr>
          <p:cNvPr id="12" name="dot member 1"/>
          <p:cNvSpPr/>
          <p:nvPr/>
        </p:nvSpPr>
        <p:spPr>
          <a:xfrm>
            <a:off x="2395728" y="1764792"/>
            <a:ext cx="146304" cy="146304"/>
          </a:xfrm>
          <a:prstGeom prst="ellipse">
            <a:avLst/>
          </a:prstGeom>
          <a:solidFill>
            <a:srgbClr val="2563EB"/>
          </a:solidFill>
          <a:ln/>
        </p:spPr>
      </p:sp>
      <p:sp>
        <p:nvSpPr>
          <p:cNvPr id="13" name="Text 11"/>
          <p:cNvSpPr txBox="1"/>
          <p:nvPr/>
        </p:nvSpPr>
        <p:spPr>
          <a:xfrm>
            <a:off x="2651760" y="1627632"/>
            <a:ext cx="3017520" cy="420624"/>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w2v-BERT 2.0 · L10+L16 probe</a:t>
            </a:r>
            <a:endParaRPr lang="en-US" sz="1150" dirty="0"/>
          </a:p>
        </p:txBody>
      </p:sp>
      <p:sp>
        <p:nvSpPr>
          <p:cNvPr id="14" name="Text 12"/>
          <p:cNvSpPr txBox="1"/>
          <p:nvPr/>
        </p:nvSpPr>
        <p:spPr>
          <a:xfrm>
            <a:off x="5623560" y="1627632"/>
            <a:ext cx="594360" cy="420624"/>
          </a:xfrm>
          <a:prstGeom prst="rect">
            <a:avLst/>
          </a:prstGeom>
          <a:noFill/>
          <a:ln/>
        </p:spPr>
        <p:txBody>
          <a:bodyPr wrap="square" lIns="0" tIns="0" rIns="0" bIns="0" rtlCol="0" anchor="ctr"/>
          <a:lstStyle/>
          <a:p>
            <a:pPr algn="r" indent="0" marL="0">
              <a:buNone/>
            </a:pPr>
            <a:r>
              <a:rPr lang="en-US" sz="1300" b="1" dirty="0">
                <a:solidFill>
                  <a:srgbClr val="2563EB"/>
                </a:solidFill>
                <a:latin typeface="Calibri" pitchFamily="34" charset="0"/>
                <a:ea typeface="Calibri" pitchFamily="34" charset="-122"/>
                <a:cs typeface="Calibri" pitchFamily="34" charset="-120"/>
              </a:rPr>
              <a:t>20%</a:t>
            </a:r>
            <a:endParaRPr lang="en-US" sz="1300" dirty="0"/>
          </a:p>
        </p:txBody>
      </p:sp>
      <p:sp>
        <p:nvSpPr>
          <p:cNvPr id="15" name="edge in 1"/>
          <p:cNvSpPr/>
          <p:nvPr/>
        </p:nvSpPr>
        <p:spPr>
          <a:xfrm flipV="1">
            <a:off x="1737360" y="1837944"/>
            <a:ext cx="548640" cy="768096"/>
          </a:xfrm>
          <a:prstGeom prst="line">
            <a:avLst/>
          </a:prstGeom>
          <a:noFill/>
          <a:ln w="12700">
            <a:solidFill>
              <a:srgbClr val="475569"/>
            </a:solidFill>
            <a:prstDash val="solid"/>
          </a:ln>
        </p:spPr>
      </p:sp>
      <p:sp>
        <p:nvSpPr>
          <p:cNvPr id="16" name="edge out 1"/>
          <p:cNvSpPr/>
          <p:nvPr/>
        </p:nvSpPr>
        <p:spPr>
          <a:xfrm>
            <a:off x="6309360" y="1837944"/>
            <a:ext cx="457200" cy="82296"/>
          </a:xfrm>
          <a:prstGeom prst="line">
            <a:avLst/>
          </a:prstGeom>
          <a:noFill/>
          <a:ln w="12700">
            <a:solidFill>
              <a:srgbClr val="475569"/>
            </a:solidFill>
            <a:prstDash val="solid"/>
          </a:ln>
        </p:spPr>
      </p:sp>
      <p:sp>
        <p:nvSpPr>
          <p:cNvPr id="17" name="member Qwen2.5-Omni-7B · hidden-state probe"/>
          <p:cNvSpPr/>
          <p:nvPr/>
        </p:nvSpPr>
        <p:spPr>
          <a:xfrm>
            <a:off x="2286000" y="2157984"/>
            <a:ext cx="4023360" cy="420624"/>
          </a:xfrm>
          <a:prstGeom prst="roundRect">
            <a:avLst>
              <a:gd name="adj" fmla="val 17391"/>
            </a:avLst>
          </a:prstGeom>
          <a:solidFill>
            <a:srgbClr val="F3F4F9"/>
          </a:solidFill>
          <a:ln/>
        </p:spPr>
      </p:sp>
      <p:sp>
        <p:nvSpPr>
          <p:cNvPr id="18" name="dot member 2"/>
          <p:cNvSpPr/>
          <p:nvPr/>
        </p:nvSpPr>
        <p:spPr>
          <a:xfrm>
            <a:off x="2395728" y="2295144"/>
            <a:ext cx="146304" cy="146304"/>
          </a:xfrm>
          <a:prstGeom prst="ellipse">
            <a:avLst/>
          </a:prstGeom>
          <a:solidFill>
            <a:srgbClr val="D97706"/>
          </a:solidFill>
          <a:ln/>
        </p:spPr>
      </p:sp>
      <p:sp>
        <p:nvSpPr>
          <p:cNvPr id="19" name="Text 17"/>
          <p:cNvSpPr txBox="1"/>
          <p:nvPr/>
        </p:nvSpPr>
        <p:spPr>
          <a:xfrm>
            <a:off x="2651760" y="2157984"/>
            <a:ext cx="3017520" cy="420624"/>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Qwen2.5-Omni-7B · hidden-state probe</a:t>
            </a:r>
            <a:endParaRPr lang="en-US" sz="1150" dirty="0"/>
          </a:p>
        </p:txBody>
      </p:sp>
      <p:sp>
        <p:nvSpPr>
          <p:cNvPr id="20" name="Text 18"/>
          <p:cNvSpPr txBox="1"/>
          <p:nvPr/>
        </p:nvSpPr>
        <p:spPr>
          <a:xfrm>
            <a:off x="5623560" y="2157984"/>
            <a:ext cx="594360" cy="420624"/>
          </a:xfrm>
          <a:prstGeom prst="rect">
            <a:avLst/>
          </a:prstGeom>
          <a:noFill/>
          <a:ln/>
        </p:spPr>
        <p:txBody>
          <a:bodyPr wrap="square" lIns="0" tIns="0" rIns="0" bIns="0" rtlCol="0" anchor="ctr"/>
          <a:lstStyle/>
          <a:p>
            <a:pPr algn="r" indent="0" marL="0">
              <a:buNone/>
            </a:pPr>
            <a:r>
              <a:rPr lang="en-US" sz="1300" b="1" dirty="0">
                <a:solidFill>
                  <a:srgbClr val="D97706"/>
                </a:solidFill>
                <a:latin typeface="Calibri" pitchFamily="34" charset="0"/>
                <a:ea typeface="Calibri" pitchFamily="34" charset="-122"/>
                <a:cs typeface="Calibri" pitchFamily="34" charset="-120"/>
              </a:rPr>
              <a:t>10%</a:t>
            </a:r>
            <a:endParaRPr lang="en-US" sz="1300" dirty="0"/>
          </a:p>
        </p:txBody>
      </p:sp>
      <p:sp>
        <p:nvSpPr>
          <p:cNvPr id="21" name="edge in 2"/>
          <p:cNvSpPr/>
          <p:nvPr/>
        </p:nvSpPr>
        <p:spPr>
          <a:xfrm flipV="1">
            <a:off x="1737360" y="2368296"/>
            <a:ext cx="548640" cy="237744"/>
          </a:xfrm>
          <a:prstGeom prst="line">
            <a:avLst/>
          </a:prstGeom>
          <a:noFill/>
          <a:ln w="12700">
            <a:solidFill>
              <a:srgbClr val="475569"/>
            </a:solidFill>
            <a:prstDash val="solid"/>
          </a:ln>
        </p:spPr>
      </p:sp>
      <p:sp>
        <p:nvSpPr>
          <p:cNvPr id="22" name="edge out 2"/>
          <p:cNvSpPr/>
          <p:nvPr/>
        </p:nvSpPr>
        <p:spPr>
          <a:xfrm flipV="1">
            <a:off x="6309360" y="1920240"/>
            <a:ext cx="457200" cy="448056"/>
          </a:xfrm>
          <a:prstGeom prst="line">
            <a:avLst/>
          </a:prstGeom>
          <a:noFill/>
          <a:ln w="12700">
            <a:solidFill>
              <a:srgbClr val="475569"/>
            </a:solidFill>
            <a:prstDash val="solid"/>
          </a:ln>
        </p:spPr>
      </p:sp>
      <p:sp>
        <p:nvSpPr>
          <p:cNvPr id="23" name="member Qwen2.5-Omni-7B · zero-shot log-probs probe"/>
          <p:cNvSpPr/>
          <p:nvPr/>
        </p:nvSpPr>
        <p:spPr>
          <a:xfrm>
            <a:off x="2286000" y="2688336"/>
            <a:ext cx="4023360" cy="420624"/>
          </a:xfrm>
          <a:prstGeom prst="roundRect">
            <a:avLst>
              <a:gd name="adj" fmla="val 17391"/>
            </a:avLst>
          </a:prstGeom>
          <a:solidFill>
            <a:srgbClr val="F3F4F9"/>
          </a:solidFill>
          <a:ln/>
        </p:spPr>
      </p:sp>
      <p:sp>
        <p:nvSpPr>
          <p:cNvPr id="24" name="dot member 3"/>
          <p:cNvSpPr/>
          <p:nvPr/>
        </p:nvSpPr>
        <p:spPr>
          <a:xfrm>
            <a:off x="2395728" y="2825496"/>
            <a:ext cx="146304" cy="146304"/>
          </a:xfrm>
          <a:prstGeom prst="ellipse">
            <a:avLst/>
          </a:prstGeom>
          <a:solidFill>
            <a:srgbClr val="64748B"/>
          </a:solidFill>
          <a:ln/>
        </p:spPr>
      </p:sp>
      <p:sp>
        <p:nvSpPr>
          <p:cNvPr id="25" name="Text 23"/>
          <p:cNvSpPr txBox="1"/>
          <p:nvPr/>
        </p:nvSpPr>
        <p:spPr>
          <a:xfrm>
            <a:off x="2651760" y="2688336"/>
            <a:ext cx="3017520" cy="420624"/>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Qwen2.5-Omni-7B · zero-shot log-probs probe</a:t>
            </a:r>
            <a:endParaRPr lang="en-US" sz="1150" dirty="0"/>
          </a:p>
        </p:txBody>
      </p:sp>
      <p:sp>
        <p:nvSpPr>
          <p:cNvPr id="26" name="Text 24"/>
          <p:cNvSpPr txBox="1"/>
          <p:nvPr/>
        </p:nvSpPr>
        <p:spPr>
          <a:xfrm>
            <a:off x="5623560" y="2688336"/>
            <a:ext cx="594360" cy="420624"/>
          </a:xfrm>
          <a:prstGeom prst="rect">
            <a:avLst/>
          </a:prstGeom>
          <a:noFill/>
          <a:ln/>
        </p:spPr>
        <p:txBody>
          <a:bodyPr wrap="square" lIns="0" tIns="0" rIns="0" bIns="0" rtlCol="0" anchor="ctr"/>
          <a:lstStyle/>
          <a:p>
            <a:pPr algn="r" indent="0" marL="0">
              <a:buNone/>
            </a:pPr>
            <a:r>
              <a:rPr lang="en-US" sz="1300" b="1" dirty="0">
                <a:solidFill>
                  <a:srgbClr val="64748B"/>
                </a:solidFill>
                <a:latin typeface="Calibri" pitchFamily="34" charset="0"/>
                <a:ea typeface="Calibri" pitchFamily="34" charset="-122"/>
                <a:cs typeface="Calibri" pitchFamily="34" charset="-120"/>
              </a:rPr>
              <a:t>10%</a:t>
            </a:r>
            <a:endParaRPr lang="en-US" sz="1300" dirty="0"/>
          </a:p>
        </p:txBody>
      </p:sp>
      <p:sp>
        <p:nvSpPr>
          <p:cNvPr id="27" name="edge in 3"/>
          <p:cNvSpPr/>
          <p:nvPr/>
        </p:nvSpPr>
        <p:spPr>
          <a:xfrm>
            <a:off x="1737360" y="2606040"/>
            <a:ext cx="548640" cy="292608"/>
          </a:xfrm>
          <a:prstGeom prst="line">
            <a:avLst/>
          </a:prstGeom>
          <a:noFill/>
          <a:ln w="12700">
            <a:solidFill>
              <a:srgbClr val="475569"/>
            </a:solidFill>
            <a:prstDash val="solid"/>
          </a:ln>
        </p:spPr>
      </p:sp>
      <p:sp>
        <p:nvSpPr>
          <p:cNvPr id="28" name="edge out 3"/>
          <p:cNvSpPr/>
          <p:nvPr/>
        </p:nvSpPr>
        <p:spPr>
          <a:xfrm flipV="1">
            <a:off x="6309360" y="1920240"/>
            <a:ext cx="457200" cy="978408"/>
          </a:xfrm>
          <a:prstGeom prst="line">
            <a:avLst/>
          </a:prstGeom>
          <a:noFill/>
          <a:ln w="12700">
            <a:solidFill>
              <a:srgbClr val="475569"/>
            </a:solidFill>
            <a:prstDash val="solid"/>
          </a:ln>
        </p:spPr>
      </p:sp>
      <p:sp>
        <p:nvSpPr>
          <p:cNvPr id="29" name="member Attentive audio-text fusion head"/>
          <p:cNvSpPr/>
          <p:nvPr/>
        </p:nvSpPr>
        <p:spPr>
          <a:xfrm>
            <a:off x="2286000" y="3218688"/>
            <a:ext cx="4023360" cy="420624"/>
          </a:xfrm>
          <a:prstGeom prst="roundRect">
            <a:avLst>
              <a:gd name="adj" fmla="val 17391"/>
            </a:avLst>
          </a:prstGeom>
          <a:solidFill>
            <a:srgbClr val="F3F4F9"/>
          </a:solidFill>
          <a:ln/>
        </p:spPr>
      </p:sp>
      <p:sp>
        <p:nvSpPr>
          <p:cNvPr id="30" name="dot member 4"/>
          <p:cNvSpPr/>
          <p:nvPr/>
        </p:nvSpPr>
        <p:spPr>
          <a:xfrm>
            <a:off x="2395728" y="3355848"/>
            <a:ext cx="146304" cy="146304"/>
          </a:xfrm>
          <a:prstGeom prst="ellipse">
            <a:avLst/>
          </a:prstGeom>
          <a:solidFill>
            <a:srgbClr val="059669"/>
          </a:solidFill>
          <a:ln/>
        </p:spPr>
      </p:sp>
      <p:sp>
        <p:nvSpPr>
          <p:cNvPr id="31" name="Text 29"/>
          <p:cNvSpPr txBox="1"/>
          <p:nvPr/>
        </p:nvSpPr>
        <p:spPr>
          <a:xfrm>
            <a:off x="2651760" y="3218688"/>
            <a:ext cx="3017520" cy="420624"/>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Attentive audio-text fusion head</a:t>
            </a:r>
            <a:endParaRPr lang="en-US" sz="1150" dirty="0"/>
          </a:p>
        </p:txBody>
      </p:sp>
      <p:sp>
        <p:nvSpPr>
          <p:cNvPr id="32" name="Text 30"/>
          <p:cNvSpPr txBox="1"/>
          <p:nvPr/>
        </p:nvSpPr>
        <p:spPr>
          <a:xfrm>
            <a:off x="5623560" y="3218688"/>
            <a:ext cx="594360" cy="420624"/>
          </a:xfrm>
          <a:prstGeom prst="rect">
            <a:avLst/>
          </a:prstGeom>
          <a:noFill/>
          <a:ln/>
        </p:spPr>
        <p:txBody>
          <a:bodyPr wrap="square" lIns="0" tIns="0" rIns="0" bIns="0" rtlCol="0" anchor="ctr"/>
          <a:lstStyle/>
          <a:p>
            <a:pPr algn="r" indent="0" marL="0">
              <a:buNone/>
            </a:pPr>
            <a:r>
              <a:rPr lang="en-US" sz="1300" b="1" dirty="0">
                <a:solidFill>
                  <a:srgbClr val="059669"/>
                </a:solidFill>
                <a:latin typeface="Calibri" pitchFamily="34" charset="0"/>
                <a:ea typeface="Calibri" pitchFamily="34" charset="-122"/>
                <a:cs typeface="Calibri" pitchFamily="34" charset="-120"/>
              </a:rPr>
              <a:t>15%</a:t>
            </a:r>
            <a:endParaRPr lang="en-US" sz="1300" dirty="0"/>
          </a:p>
        </p:txBody>
      </p:sp>
      <p:sp>
        <p:nvSpPr>
          <p:cNvPr id="33" name="edge in 4"/>
          <p:cNvSpPr/>
          <p:nvPr/>
        </p:nvSpPr>
        <p:spPr>
          <a:xfrm>
            <a:off x="1737360" y="2606040"/>
            <a:ext cx="548640" cy="822960"/>
          </a:xfrm>
          <a:prstGeom prst="line">
            <a:avLst/>
          </a:prstGeom>
          <a:noFill/>
          <a:ln w="12700">
            <a:solidFill>
              <a:srgbClr val="475569"/>
            </a:solidFill>
            <a:prstDash val="solid"/>
          </a:ln>
        </p:spPr>
      </p:sp>
      <p:sp>
        <p:nvSpPr>
          <p:cNvPr id="34" name="edge out 4"/>
          <p:cNvSpPr/>
          <p:nvPr/>
        </p:nvSpPr>
        <p:spPr>
          <a:xfrm flipV="1">
            <a:off x="6309360" y="1920240"/>
            <a:ext cx="457200" cy="1508760"/>
          </a:xfrm>
          <a:prstGeom prst="line">
            <a:avLst/>
          </a:prstGeom>
          <a:noFill/>
          <a:ln w="12700">
            <a:solidFill>
              <a:srgbClr val="475569"/>
            </a:solidFill>
            <a:prstDash val="solid"/>
          </a:ln>
        </p:spPr>
      </p:sp>
      <p:sp>
        <p:nvSpPr>
          <p:cNvPr id="35" name="member Whisper ASR → e5 transcript probe"/>
          <p:cNvSpPr/>
          <p:nvPr/>
        </p:nvSpPr>
        <p:spPr>
          <a:xfrm>
            <a:off x="2286000" y="3749040"/>
            <a:ext cx="4023360" cy="420624"/>
          </a:xfrm>
          <a:prstGeom prst="roundRect">
            <a:avLst>
              <a:gd name="adj" fmla="val 17391"/>
            </a:avLst>
          </a:prstGeom>
          <a:solidFill>
            <a:srgbClr val="F3F4F9"/>
          </a:solidFill>
          <a:ln/>
        </p:spPr>
      </p:sp>
      <p:sp>
        <p:nvSpPr>
          <p:cNvPr id="36" name="dot member 5"/>
          <p:cNvSpPr/>
          <p:nvPr/>
        </p:nvSpPr>
        <p:spPr>
          <a:xfrm>
            <a:off x="2395728" y="3886200"/>
            <a:ext cx="146304" cy="146304"/>
          </a:xfrm>
          <a:prstGeom prst="ellipse">
            <a:avLst/>
          </a:prstGeom>
          <a:solidFill>
            <a:srgbClr val="E11D48"/>
          </a:solidFill>
          <a:ln/>
        </p:spPr>
      </p:sp>
      <p:sp>
        <p:nvSpPr>
          <p:cNvPr id="37" name="Text 35"/>
          <p:cNvSpPr txBox="1"/>
          <p:nvPr/>
        </p:nvSpPr>
        <p:spPr>
          <a:xfrm>
            <a:off x="2651760" y="3749040"/>
            <a:ext cx="3017520" cy="420624"/>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Whisper ASR → e5 transcript probe</a:t>
            </a:r>
            <a:endParaRPr lang="en-US" sz="1150" dirty="0"/>
          </a:p>
        </p:txBody>
      </p:sp>
      <p:sp>
        <p:nvSpPr>
          <p:cNvPr id="38" name="Text 36"/>
          <p:cNvSpPr txBox="1"/>
          <p:nvPr/>
        </p:nvSpPr>
        <p:spPr>
          <a:xfrm>
            <a:off x="5623560" y="3749040"/>
            <a:ext cx="594360" cy="420624"/>
          </a:xfrm>
          <a:prstGeom prst="rect">
            <a:avLst/>
          </a:prstGeom>
          <a:noFill/>
          <a:ln/>
        </p:spPr>
        <p:txBody>
          <a:bodyPr wrap="square" lIns="0" tIns="0" rIns="0" bIns="0" rtlCol="0" anchor="ctr"/>
          <a:lstStyle/>
          <a:p>
            <a:pPr algn="r" indent="0" marL="0">
              <a:buNone/>
            </a:pPr>
            <a:r>
              <a:rPr lang="en-US" sz="1300" b="1" dirty="0">
                <a:solidFill>
                  <a:srgbClr val="E11D48"/>
                </a:solidFill>
                <a:latin typeface="Calibri" pitchFamily="34" charset="0"/>
                <a:ea typeface="Calibri" pitchFamily="34" charset="-122"/>
                <a:cs typeface="Calibri" pitchFamily="34" charset="-120"/>
              </a:rPr>
              <a:t>25%</a:t>
            </a:r>
            <a:endParaRPr lang="en-US" sz="1300" dirty="0"/>
          </a:p>
        </p:txBody>
      </p:sp>
      <p:sp>
        <p:nvSpPr>
          <p:cNvPr id="39" name="edge in 5"/>
          <p:cNvSpPr/>
          <p:nvPr/>
        </p:nvSpPr>
        <p:spPr>
          <a:xfrm>
            <a:off x="1737360" y="2606040"/>
            <a:ext cx="548640" cy="1353312"/>
          </a:xfrm>
          <a:prstGeom prst="line">
            <a:avLst/>
          </a:prstGeom>
          <a:noFill/>
          <a:ln w="12700">
            <a:solidFill>
              <a:srgbClr val="475569"/>
            </a:solidFill>
            <a:prstDash val="solid"/>
          </a:ln>
        </p:spPr>
      </p:sp>
      <p:sp>
        <p:nvSpPr>
          <p:cNvPr id="40" name="edge out 5"/>
          <p:cNvSpPr/>
          <p:nvPr/>
        </p:nvSpPr>
        <p:spPr>
          <a:xfrm flipV="1">
            <a:off x="6309360" y="1920240"/>
            <a:ext cx="457200" cy="2039112"/>
          </a:xfrm>
          <a:prstGeom prst="line">
            <a:avLst/>
          </a:prstGeom>
          <a:noFill/>
          <a:ln w="12700">
            <a:solidFill>
              <a:srgbClr val="475569"/>
            </a:solidFill>
            <a:prstDash val="solid"/>
          </a:ln>
        </p:spPr>
      </p:sp>
      <p:sp>
        <p:nvSpPr>
          <p:cNvPr id="41" name="blend"/>
          <p:cNvSpPr/>
          <p:nvPr/>
        </p:nvSpPr>
        <p:spPr>
          <a:xfrm>
            <a:off x="6766560" y="1508760"/>
            <a:ext cx="1874520" cy="822960"/>
          </a:xfrm>
          <a:prstGeom prst="roundRect">
            <a:avLst>
              <a:gd name="adj" fmla="val 13333"/>
            </a:avLst>
          </a:prstGeom>
          <a:solidFill>
            <a:srgbClr val="E8711A"/>
          </a:solidFill>
          <a:ln/>
        </p:spPr>
      </p:sp>
      <p:sp>
        <p:nvSpPr>
          <p:cNvPr id="42" name="Text 40"/>
          <p:cNvSpPr txBox="1"/>
          <p:nvPr/>
        </p:nvSpPr>
        <p:spPr>
          <a:xfrm>
            <a:off x="6766560" y="1508760"/>
            <a:ext cx="187452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Weighted average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(fixed weights)</a:t>
            </a:r>
            <a:endParaRPr lang="en-US" sz="1200" dirty="0"/>
          </a:p>
        </p:txBody>
      </p:sp>
      <p:sp>
        <p:nvSpPr>
          <p:cNvPr id="43" name="twin lock"/>
          <p:cNvSpPr/>
          <p:nvPr/>
        </p:nvSpPr>
        <p:spPr>
          <a:xfrm>
            <a:off x="6766560" y="2880360"/>
            <a:ext cx="1874520" cy="822960"/>
          </a:xfrm>
          <a:prstGeom prst="roundRect">
            <a:avLst>
              <a:gd name="adj" fmla="val 13333"/>
            </a:avLst>
          </a:prstGeom>
          <a:solidFill>
            <a:srgbClr val="059669"/>
          </a:solidFill>
          <a:ln/>
        </p:spPr>
      </p:sp>
      <p:sp>
        <p:nvSpPr>
          <p:cNvPr id="44" name="Text 42"/>
          <p:cNvSpPr txBox="1"/>
          <p:nvPr/>
        </p:nvSpPr>
        <p:spPr>
          <a:xfrm>
            <a:off x="6766560" y="2880360"/>
            <a:ext cx="187452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Twin lock</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 submission</a:t>
            </a:r>
            <a:endParaRPr lang="en-US" sz="1200" dirty="0"/>
          </a:p>
        </p:txBody>
      </p:sp>
      <p:sp>
        <p:nvSpPr>
          <p:cNvPr id="45" name="edge blend lock"/>
          <p:cNvSpPr/>
          <p:nvPr/>
        </p:nvSpPr>
        <p:spPr>
          <a:xfrm>
            <a:off x="7699248" y="2331720"/>
            <a:ext cx="0" cy="548640"/>
          </a:xfrm>
          <a:prstGeom prst="line">
            <a:avLst/>
          </a:prstGeom>
          <a:noFill/>
          <a:ln w="19050">
            <a:solidFill>
              <a:srgbClr val="475569"/>
            </a:solidFill>
            <a:prstDash val="solid"/>
            <a:tailEnd type="triangle"/>
          </a:ln>
        </p:spPr>
      </p:sp>
      <p:sp>
        <p:nvSpPr>
          <p:cNvPr id="46" name="Text 44"/>
          <p:cNvSpPr txBox="1"/>
          <p:nvPr/>
        </p:nvSpPr>
        <p:spPr>
          <a:xfrm>
            <a:off x="502920" y="4279392"/>
            <a:ext cx="8138160" cy="41148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Percentages are effective blend weights: audio = 0.8·(⅓ Whisper + ⅓ w2v-BERT + ⅙ Omni hidden + ⅙ Omni log-probs) + 0.2·fusion head; final = 0.75·audio + 0.25·text. Fixed, because learned combiners overfit 826 clips.</a:t>
            </a:r>
            <a:endParaRPr lang="en-US" sz="105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lIns="0" tIns="0" rIns="0" bIns="0" rtlCol="0" anchor="ctr"/>
          <a:lstStyle/>
          <a:p>
            <a:pPr algn="l" indent="0" marL="0">
              <a:buNone/>
            </a:pPr>
            <a:r>
              <a:rPr lang="en-US" sz="2600" b="1" dirty="0">
                <a:solidFill>
                  <a:srgbClr val="0F172A"/>
                </a:solidFill>
              </a:rPr>
              <a:t>The backbone: Whisper-large-v3, frozen</a:t>
            </a:r>
            <a:endParaRPr lang="en-US" sz="2600" dirty="0"/>
          </a:p>
        </p:txBody>
      </p:sp>
      <p:graphicFrame>
        <p:nvGraphicFramePr>
          <p:cNvPr id="3" name="Chart 0" descr=""/>
          <p:cNvGraphicFramePr/>
          <p:nvPr/>
        </p:nvGraphicFramePr>
        <p:xfrm>
          <a:off x="365760" y="1097280"/>
          <a:ext cx="4389120" cy="3520440"/>
        </p:xfrm>
        <a:graphic xmlns:a="http://schemas.openxmlformats.org/drawingml/2006/main">
          <a:graphicData uri="http://schemas.openxmlformats.org/drawingml/2006/chart">
            <c:chart xmlns:c="http://schemas.openxmlformats.org/drawingml/2006/chart" r:id="rId1"/>
          </a:graphicData>
        </a:graphic>
      </p:graphicFrame>
      <p:sp>
        <p:nvSpPr>
          <p:cNvPr id="4" name="badge LuTimer"/>
          <p:cNvSpPr/>
          <p:nvPr/>
        </p:nvSpPr>
        <p:spPr>
          <a:xfrm>
            <a:off x="5029200" y="1188720"/>
            <a:ext cx="548640" cy="548640"/>
          </a:xfrm>
          <a:prstGeom prst="ellipse">
            <a:avLst/>
          </a:prstGeom>
          <a:solidFill>
            <a:srgbClr val="E11D48">
              <a:alpha val="20000"/>
            </a:srgbClr>
          </a:solidFill>
          <a:ln/>
        </p:spPr>
      </p:sp>
      <p:pic>
        <p:nvPicPr>
          <p:cNvPr id="5" name="Image 0" descr="Timer icon">    </p:cNvPr>
          <p:cNvPicPr>
            <a:picLocks noChangeAspect="1"/>
          </p:cNvPicPr>
          <p:nvPr/>
        </p:nvPicPr>
        <p:blipFill>
          <a:blip r:embed="rId2"/>
          <a:stretch>
            <a:fillRect/>
          </a:stretch>
        </p:blipFill>
        <p:spPr>
          <a:xfrm>
            <a:off x="5149901" y="1309421"/>
            <a:ext cx="307238" cy="307238"/>
          </a:xfrm>
          <a:prstGeom prst="rect">
            <a:avLst/>
          </a:prstGeom>
        </p:spPr>
      </p:pic>
      <p:sp>
        <p:nvSpPr>
          <p:cNvPr id="6" name="Text 2"/>
          <p:cNvSpPr txBox="1"/>
          <p:nvPr/>
        </p:nvSpPr>
        <p:spPr>
          <a:xfrm>
            <a:off x="5760720" y="1188720"/>
            <a:ext cx="292608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Pad to 30 s</a:t>
            </a:r>
            <a:endParaRPr lang="en-US" sz="1500" dirty="0"/>
          </a:p>
        </p:txBody>
      </p:sp>
      <p:sp>
        <p:nvSpPr>
          <p:cNvPr id="7" name="Text 3"/>
          <p:cNvSpPr txBox="1"/>
          <p:nvPr/>
        </p:nvSpPr>
        <p:spPr>
          <a:xfrm>
            <a:off x="5760720" y="1536192"/>
            <a:ext cx="2926080" cy="68580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Whisper was trained on 30-s windows; unpadded short clips cost its top layers 0.08 F1.</a:t>
            </a:r>
            <a:endParaRPr lang="en-US" sz="1150" dirty="0"/>
          </a:p>
        </p:txBody>
      </p:sp>
      <p:sp>
        <p:nvSpPr>
          <p:cNvPr id="8" name="badge LuLayers"/>
          <p:cNvSpPr/>
          <p:nvPr/>
        </p:nvSpPr>
        <p:spPr>
          <a:xfrm>
            <a:off x="5029200" y="2331720"/>
            <a:ext cx="548640" cy="548640"/>
          </a:xfrm>
          <a:prstGeom prst="ellipse">
            <a:avLst/>
          </a:prstGeom>
          <a:solidFill>
            <a:srgbClr val="D97706">
              <a:alpha val="20000"/>
            </a:srgbClr>
          </a:solidFill>
          <a:ln/>
        </p:spPr>
      </p:sp>
      <p:pic>
        <p:nvPicPr>
          <p:cNvPr id="9" name="Image 1" descr="Layers icon">    </p:cNvPr>
          <p:cNvPicPr>
            <a:picLocks noChangeAspect="1"/>
          </p:cNvPicPr>
          <p:nvPr/>
        </p:nvPicPr>
        <p:blipFill>
          <a:blip r:embed="rId3"/>
          <a:stretch>
            <a:fillRect/>
          </a:stretch>
        </p:blipFill>
        <p:spPr>
          <a:xfrm>
            <a:off x="5149901" y="2452421"/>
            <a:ext cx="307238" cy="307238"/>
          </a:xfrm>
          <a:prstGeom prst="rect">
            <a:avLst/>
          </a:prstGeom>
        </p:spPr>
      </p:pic>
      <p:sp>
        <p:nvSpPr>
          <p:cNvPr id="10" name="Text 5"/>
          <p:cNvSpPr txBox="1"/>
          <p:nvPr/>
        </p:nvSpPr>
        <p:spPr>
          <a:xfrm>
            <a:off x="5760720" y="2331720"/>
            <a:ext cx="292608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Layers 24 + 32</a:t>
            </a:r>
            <a:endParaRPr lang="en-US" sz="1500" dirty="0"/>
          </a:p>
        </p:txBody>
      </p:sp>
      <p:sp>
        <p:nvSpPr>
          <p:cNvPr id="11" name="Text 6"/>
          <p:cNvSpPr txBox="1"/>
          <p:nvPr/>
        </p:nvSpPr>
        <p:spPr>
          <a:xfrm>
            <a:off x="5760720" y="2679192"/>
            <a:ext cx="2926080" cy="68580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Mean + std pooled over valid frames, into a regularised logistic probe.</a:t>
            </a:r>
            <a:endParaRPr lang="en-US" sz="1150" dirty="0"/>
          </a:p>
        </p:txBody>
      </p:sp>
      <p:sp>
        <p:nvSpPr>
          <p:cNvPr id="12" name="badge LuGitMerge"/>
          <p:cNvSpPr/>
          <p:nvPr/>
        </p:nvSpPr>
        <p:spPr>
          <a:xfrm>
            <a:off x="5029200" y="3474720"/>
            <a:ext cx="548640" cy="548640"/>
          </a:xfrm>
          <a:prstGeom prst="ellipse">
            <a:avLst/>
          </a:prstGeom>
          <a:solidFill>
            <a:srgbClr val="2563EB">
              <a:alpha val="20000"/>
            </a:srgbClr>
          </a:solidFill>
          <a:ln/>
        </p:spPr>
      </p:sp>
      <p:pic>
        <p:nvPicPr>
          <p:cNvPr id="13" name="Image 2" descr="GitMerge icon">    </p:cNvPr>
          <p:cNvPicPr>
            <a:picLocks noChangeAspect="1"/>
          </p:cNvPicPr>
          <p:nvPr/>
        </p:nvPicPr>
        <p:blipFill>
          <a:blip r:embed="rId4"/>
          <a:stretch>
            <a:fillRect/>
          </a:stretch>
        </p:blipFill>
        <p:spPr>
          <a:xfrm>
            <a:off x="5149901" y="3595421"/>
            <a:ext cx="307238" cy="307238"/>
          </a:xfrm>
          <a:prstGeom prst="rect">
            <a:avLst/>
          </a:prstGeom>
        </p:spPr>
      </p:pic>
      <p:sp>
        <p:nvSpPr>
          <p:cNvPr id="14" name="Text 8"/>
          <p:cNvSpPr txBox="1"/>
          <p:nvPr/>
        </p:nvSpPr>
        <p:spPr>
          <a:xfrm>
            <a:off x="5760720" y="3474720"/>
            <a:ext cx="2926080" cy="32004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Five views per clip</a:t>
            </a:r>
            <a:endParaRPr lang="en-US" sz="1500" dirty="0"/>
          </a:p>
        </p:txBody>
      </p:sp>
      <p:sp>
        <p:nvSpPr>
          <p:cNvPr id="15" name="Text 9"/>
          <p:cNvSpPr txBox="1"/>
          <p:nvPr/>
        </p:nvSpPr>
        <p:spPr>
          <a:xfrm>
            <a:off x="5760720" y="3822192"/>
            <a:ext cx="2926080" cy="68580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Noise at 20/30 dB and leading silence; predictions averaged. Alone: 0.902.</a:t>
            </a:r>
            <a:endParaRPr lang="en-US" sz="115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lIns="0" tIns="0" rIns="0" bIns="0" rtlCol="0" anchor="ctr"/>
          <a:lstStyle/>
          <a:p>
            <a:pPr algn="l" indent="0" marL="0">
              <a:buNone/>
            </a:pPr>
            <a:r>
              <a:rPr lang="en-US" sz="2600" b="1" dirty="0">
                <a:solidFill>
                  <a:srgbClr val="0F172A"/>
                </a:solidFill>
              </a:rPr>
              <a:t>Our key contribution: an attentive audio-text head</a:t>
            </a:r>
            <a:endParaRPr lang="en-US" sz="2600" dirty="0"/>
          </a:p>
        </p:txBody>
      </p:sp>
      <p:sp>
        <p:nvSpPr>
          <p:cNvPr id="3" name="layer 0"/>
          <p:cNvSpPr/>
          <p:nvPr/>
        </p:nvSpPr>
        <p:spPr>
          <a:xfrm>
            <a:off x="502920" y="1097280"/>
            <a:ext cx="4206240" cy="502920"/>
          </a:xfrm>
          <a:prstGeom prst="roundRect">
            <a:avLst>
              <a:gd name="adj" fmla="val 49091"/>
            </a:avLst>
          </a:prstGeom>
          <a:solidFill>
            <a:srgbClr val="F3F4F9"/>
          </a:solidFill>
          <a:ln/>
        </p:spPr>
      </p:sp>
      <p:sp>
        <p:nvSpPr>
          <p:cNvPr id="4" name="dot 0"/>
          <p:cNvSpPr/>
          <p:nvPr/>
        </p:nvSpPr>
        <p:spPr>
          <a:xfrm>
            <a:off x="640080" y="1234440"/>
            <a:ext cx="228600" cy="228600"/>
          </a:xfrm>
          <a:prstGeom prst="ellipse">
            <a:avLst/>
          </a:prstGeom>
          <a:solidFill>
            <a:srgbClr val="E11D48"/>
          </a:solidFill>
          <a:ln/>
        </p:spPr>
      </p:sp>
      <p:sp>
        <p:nvSpPr>
          <p:cNvPr id="5" name="Text 3"/>
          <p:cNvSpPr txBox="1"/>
          <p:nvPr/>
        </p:nvSpPr>
        <p:spPr>
          <a:xfrm>
            <a:off x="1005840" y="1097280"/>
            <a:ext cx="3611880" cy="50292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Whisper L24‖L32 frames, standardised</a:t>
            </a:r>
            <a:endParaRPr lang="en-US" sz="1250" dirty="0"/>
          </a:p>
        </p:txBody>
      </p:sp>
      <p:sp>
        <p:nvSpPr>
          <p:cNvPr id="6" name="arrow 0"/>
          <p:cNvSpPr/>
          <p:nvPr/>
        </p:nvSpPr>
        <p:spPr>
          <a:xfrm>
            <a:off x="2606040" y="1600200"/>
            <a:ext cx="0" cy="182880"/>
          </a:xfrm>
          <a:prstGeom prst="line">
            <a:avLst/>
          </a:prstGeom>
          <a:noFill/>
          <a:ln w="19050">
            <a:solidFill>
              <a:srgbClr val="475569"/>
            </a:solidFill>
            <a:prstDash val="solid"/>
            <a:tailEnd type="triangle"/>
          </a:ln>
        </p:spPr>
      </p:sp>
      <p:sp>
        <p:nvSpPr>
          <p:cNvPr id="7" name="layer 1"/>
          <p:cNvSpPr/>
          <p:nvPr/>
        </p:nvSpPr>
        <p:spPr>
          <a:xfrm>
            <a:off x="502920" y="1783080"/>
            <a:ext cx="4206240" cy="502920"/>
          </a:xfrm>
          <a:prstGeom prst="roundRect">
            <a:avLst>
              <a:gd name="adj" fmla="val 49091"/>
            </a:avLst>
          </a:prstGeom>
          <a:solidFill>
            <a:srgbClr val="F3F4F9"/>
          </a:solidFill>
          <a:ln/>
        </p:spPr>
      </p:sp>
      <p:sp>
        <p:nvSpPr>
          <p:cNvPr id="8" name="dot 1"/>
          <p:cNvSpPr/>
          <p:nvPr/>
        </p:nvSpPr>
        <p:spPr>
          <a:xfrm>
            <a:off x="640080" y="1920240"/>
            <a:ext cx="228600" cy="228600"/>
          </a:xfrm>
          <a:prstGeom prst="ellipse">
            <a:avLst/>
          </a:prstGeom>
          <a:solidFill>
            <a:srgbClr val="D97706"/>
          </a:solidFill>
          <a:ln/>
        </p:spPr>
      </p:sp>
      <p:sp>
        <p:nvSpPr>
          <p:cNvPr id="9" name="Text 7"/>
          <p:cNvSpPr txBox="1"/>
          <p:nvPr/>
        </p:nvSpPr>
        <p:spPr>
          <a:xfrm>
            <a:off x="1005840" y="1783080"/>
            <a:ext cx="3611880" cy="50292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Linear 256 · GELU · dropout 0.3</a:t>
            </a:r>
            <a:endParaRPr lang="en-US" sz="1250" dirty="0"/>
          </a:p>
        </p:txBody>
      </p:sp>
      <p:sp>
        <p:nvSpPr>
          <p:cNvPr id="10" name="arrow 1"/>
          <p:cNvSpPr/>
          <p:nvPr/>
        </p:nvSpPr>
        <p:spPr>
          <a:xfrm>
            <a:off x="2606040" y="2286000"/>
            <a:ext cx="0" cy="182880"/>
          </a:xfrm>
          <a:prstGeom prst="line">
            <a:avLst/>
          </a:prstGeom>
          <a:noFill/>
          <a:ln w="19050">
            <a:solidFill>
              <a:srgbClr val="475569"/>
            </a:solidFill>
            <a:prstDash val="solid"/>
            <a:tailEnd type="triangle"/>
          </a:ln>
        </p:spPr>
      </p:sp>
      <p:sp>
        <p:nvSpPr>
          <p:cNvPr id="11" name="layer 2"/>
          <p:cNvSpPr/>
          <p:nvPr/>
        </p:nvSpPr>
        <p:spPr>
          <a:xfrm>
            <a:off x="502920" y="2468880"/>
            <a:ext cx="4206240" cy="502920"/>
          </a:xfrm>
          <a:prstGeom prst="roundRect">
            <a:avLst>
              <a:gd name="adj" fmla="val 49091"/>
            </a:avLst>
          </a:prstGeom>
          <a:solidFill>
            <a:srgbClr val="FFF1E6"/>
          </a:solidFill>
          <a:ln/>
        </p:spPr>
      </p:sp>
      <p:sp>
        <p:nvSpPr>
          <p:cNvPr id="12" name="dot 2"/>
          <p:cNvSpPr/>
          <p:nvPr/>
        </p:nvSpPr>
        <p:spPr>
          <a:xfrm>
            <a:off x="640080" y="2606040"/>
            <a:ext cx="228600" cy="228600"/>
          </a:xfrm>
          <a:prstGeom prst="ellipse">
            <a:avLst/>
          </a:prstGeom>
          <a:solidFill>
            <a:srgbClr val="64748B"/>
          </a:solidFill>
          <a:ln/>
        </p:spPr>
      </p:sp>
      <p:sp>
        <p:nvSpPr>
          <p:cNvPr id="13" name="Text 11"/>
          <p:cNvSpPr txBox="1"/>
          <p:nvPr/>
        </p:nvSpPr>
        <p:spPr>
          <a:xfrm>
            <a:off x="1005840" y="2468880"/>
            <a:ext cx="3611880" cy="5029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4-head attentive statistics pooling</a:t>
            </a:r>
            <a:endParaRPr lang="en-US" sz="1250" dirty="0"/>
          </a:p>
        </p:txBody>
      </p:sp>
      <p:sp>
        <p:nvSpPr>
          <p:cNvPr id="14" name="arrow 2"/>
          <p:cNvSpPr/>
          <p:nvPr/>
        </p:nvSpPr>
        <p:spPr>
          <a:xfrm>
            <a:off x="2606040" y="2971800"/>
            <a:ext cx="0" cy="182880"/>
          </a:xfrm>
          <a:prstGeom prst="line">
            <a:avLst/>
          </a:prstGeom>
          <a:noFill/>
          <a:ln w="19050">
            <a:solidFill>
              <a:srgbClr val="475569"/>
            </a:solidFill>
            <a:prstDash val="solid"/>
            <a:tailEnd type="triangle"/>
          </a:ln>
        </p:spPr>
      </p:sp>
      <p:sp>
        <p:nvSpPr>
          <p:cNvPr id="15" name="layer 3"/>
          <p:cNvSpPr/>
          <p:nvPr/>
        </p:nvSpPr>
        <p:spPr>
          <a:xfrm>
            <a:off x="502920" y="3154680"/>
            <a:ext cx="4206240" cy="502920"/>
          </a:xfrm>
          <a:prstGeom prst="roundRect">
            <a:avLst>
              <a:gd name="adj" fmla="val 49091"/>
            </a:avLst>
          </a:prstGeom>
          <a:solidFill>
            <a:srgbClr val="FFF1E6"/>
          </a:solidFill>
          <a:ln/>
        </p:spPr>
      </p:sp>
      <p:sp>
        <p:nvSpPr>
          <p:cNvPr id="16" name="dot 3"/>
          <p:cNvSpPr/>
          <p:nvPr/>
        </p:nvSpPr>
        <p:spPr>
          <a:xfrm>
            <a:off x="640080" y="3291840"/>
            <a:ext cx="228600" cy="228600"/>
          </a:xfrm>
          <a:prstGeom prst="ellipse">
            <a:avLst/>
          </a:prstGeom>
          <a:solidFill>
            <a:srgbClr val="2563EB"/>
          </a:solidFill>
          <a:ln/>
        </p:spPr>
      </p:sp>
      <p:sp>
        <p:nvSpPr>
          <p:cNvPr id="17" name="Text 15"/>
          <p:cNvSpPr txBox="1"/>
          <p:nvPr/>
        </p:nvSpPr>
        <p:spPr>
          <a:xfrm>
            <a:off x="1005840" y="3154680"/>
            <a:ext cx="3611880" cy="5029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 transcript embedding (e5 → 64)</a:t>
            </a:r>
            <a:endParaRPr lang="en-US" sz="1250" dirty="0"/>
          </a:p>
        </p:txBody>
      </p:sp>
      <p:sp>
        <p:nvSpPr>
          <p:cNvPr id="18" name="arrow 3"/>
          <p:cNvSpPr/>
          <p:nvPr/>
        </p:nvSpPr>
        <p:spPr>
          <a:xfrm>
            <a:off x="2606040" y="3657600"/>
            <a:ext cx="0" cy="182880"/>
          </a:xfrm>
          <a:prstGeom prst="line">
            <a:avLst/>
          </a:prstGeom>
          <a:noFill/>
          <a:ln w="19050">
            <a:solidFill>
              <a:srgbClr val="475569"/>
            </a:solidFill>
            <a:prstDash val="solid"/>
            <a:tailEnd type="triangle"/>
          </a:ln>
        </p:spPr>
      </p:sp>
      <p:sp>
        <p:nvSpPr>
          <p:cNvPr id="19" name="layer 4"/>
          <p:cNvSpPr/>
          <p:nvPr/>
        </p:nvSpPr>
        <p:spPr>
          <a:xfrm>
            <a:off x="502920" y="3840480"/>
            <a:ext cx="4206240" cy="502920"/>
          </a:xfrm>
          <a:prstGeom prst="roundRect">
            <a:avLst>
              <a:gd name="adj" fmla="val 49091"/>
            </a:avLst>
          </a:prstGeom>
          <a:solidFill>
            <a:srgbClr val="F3F4F9"/>
          </a:solidFill>
          <a:ln/>
        </p:spPr>
      </p:sp>
      <p:sp>
        <p:nvSpPr>
          <p:cNvPr id="20" name="dot 4"/>
          <p:cNvSpPr/>
          <p:nvPr/>
        </p:nvSpPr>
        <p:spPr>
          <a:xfrm>
            <a:off x="640080" y="3977640"/>
            <a:ext cx="228600" cy="228600"/>
          </a:xfrm>
          <a:prstGeom prst="ellipse">
            <a:avLst/>
          </a:prstGeom>
          <a:solidFill>
            <a:srgbClr val="E11D48"/>
          </a:solidFill>
          <a:ln/>
        </p:spPr>
      </p:sp>
      <p:sp>
        <p:nvSpPr>
          <p:cNvPr id="21" name="Text 19"/>
          <p:cNvSpPr txBox="1"/>
          <p:nvPr/>
        </p:nvSpPr>
        <p:spPr>
          <a:xfrm>
            <a:off x="1005840" y="3840480"/>
            <a:ext cx="3611880" cy="502920"/>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Linear → 4 emotions</a:t>
            </a:r>
            <a:endParaRPr lang="en-US" sz="1250" dirty="0"/>
          </a:p>
        </p:txBody>
      </p:sp>
      <p:sp>
        <p:nvSpPr>
          <p:cNvPr id="22" name="Text 20"/>
          <p:cNvSpPr txBox="1"/>
          <p:nvPr/>
        </p:nvSpPr>
        <p:spPr>
          <a:xfrm>
            <a:off x="5120640" y="1051560"/>
            <a:ext cx="3566160" cy="914400"/>
          </a:xfrm>
          <a:prstGeom prst="rect">
            <a:avLst/>
          </a:prstGeom>
          <a:noFill/>
          <a:ln/>
        </p:spPr>
        <p:txBody>
          <a:bodyPr wrap="square" lIns="0" tIns="0" rIns="0" bIns="0" rtlCol="0" anchor="t"/>
          <a:lstStyle/>
          <a:p>
            <a:pPr indent="0" marL="0">
              <a:buNone/>
            </a:pPr>
            <a:r>
              <a:rPr lang="en-US" sz="6000" b="1" dirty="0">
                <a:solidFill>
                  <a:srgbClr val="059669"/>
                </a:solidFill>
                <a:latin typeface="Cambria" pitchFamily="34" charset="0"/>
                <a:ea typeface="Cambria" pitchFamily="34" charset="-122"/>
                <a:cs typeface="Cambria" pitchFamily="34" charset="-120"/>
              </a:rPr>
              <a:t>0.916</a:t>
            </a:r>
            <a:endParaRPr lang="en-US" sz="6000" dirty="0"/>
          </a:p>
        </p:txBody>
      </p:sp>
      <p:sp>
        <p:nvSpPr>
          <p:cNvPr id="23" name="Text 21"/>
          <p:cNvSpPr txBox="1"/>
          <p:nvPr/>
        </p:nvSpPr>
        <p:spPr>
          <a:xfrm>
            <a:off x="5120640" y="1965960"/>
            <a:ext cx="3566160" cy="3200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best single model in the solution</a:t>
            </a:r>
            <a:endParaRPr lang="en-US" sz="1300" dirty="0"/>
          </a:p>
        </p:txBody>
      </p:sp>
      <p:sp>
        <p:nvSpPr>
          <p:cNvPr id="24" name="Text 22"/>
          <p:cNvSpPr txBox="1"/>
          <p:nvPr/>
        </p:nvSpPr>
        <p:spPr>
          <a:xfrm>
            <a:off x="5120640" y="2468880"/>
            <a:ext cx="3520440" cy="2011680"/>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Emotion is temporally sparse: a pitch excursion, a stressed syllable. Mean pooling dilutes it; attention finds it.</a:t>
            </a:r>
            <a:endParaRPr lang="en-US" sz="1250" dirty="0"/>
          </a:p>
          <a:p>
            <a:pPr indent="0" marL="0">
              <a:buNone/>
            </a:pPr>
            <a:r>
              <a:rPr lang="en-US" sz="600" dirty="0">
                <a:solidFill>
                  <a:srgbClr val="475569"/>
                </a:solidFill>
                <a:latin typeface="Calibri" pitchFamily="34" charset="0"/>
                <a:ea typeface="Calibri" pitchFamily="34" charset="-122"/>
                <a:cs typeface="Calibri" pitchFamily="34" charset="-120"/>
              </a:rPr>
              <a:t> </a:t>
            </a:r>
            <a:endParaRPr lang="en-US" sz="1250" dirty="0"/>
          </a:p>
          <a:p>
            <a:pPr indent="0" marL="0">
              <a:buNone/>
            </a:pPr>
            <a:r>
              <a:rPr lang="en-US" sz="1250" dirty="0">
                <a:solidFill>
                  <a:srgbClr val="475569"/>
                </a:solidFill>
                <a:latin typeface="Calibri" pitchFamily="34" charset="0"/>
                <a:ea typeface="Calibri" pitchFamily="34" charset="-122"/>
                <a:cs typeface="Calibri" pitchFamily="34" charset="-120"/>
              </a:rPr>
              <a:t>Fusing the transcript before the output layer pushed it past the adoption gate (+0.006 CV).</a:t>
            </a:r>
            <a:endParaRPr lang="en-US" sz="125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lIns="0" tIns="0" rIns="0" bIns="0" rtlCol="0" anchor="ctr"/>
          <a:lstStyle/>
          <a:p>
            <a:pPr algn="l" indent="0" marL="0">
              <a:buNone/>
            </a:pPr>
            <a:r>
              <a:rPr lang="en-US" sz="2600" b="1" dirty="0">
                <a:solidFill>
                  <a:srgbClr val="0F172A"/>
                </a:solidFill>
              </a:rPr>
              <a:t>Twin lock: the duplicate problem becomes a feature</a:t>
            </a:r>
            <a:endParaRPr lang="en-US" sz="2600" dirty="0"/>
          </a:p>
        </p:txBody>
      </p:sp>
      <p:graphicFrame>
        <p:nvGraphicFramePr>
          <p:cNvPr id="3" name="Chart 0" descr=""/>
          <p:cNvGraphicFramePr/>
          <p:nvPr/>
        </p:nvGraphicFramePr>
        <p:xfrm>
          <a:off x="365760" y="1051560"/>
          <a:ext cx="356616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365760" y="2331720"/>
            <a:ext cx="3566160" cy="685800"/>
          </a:xfrm>
          <a:prstGeom prst="rect">
            <a:avLst/>
          </a:prstGeom>
          <a:noFill/>
          <a:ln/>
        </p:spPr>
        <p:txBody>
          <a:bodyPr wrap="square" lIns="0" tIns="0" rIns="0" bIns="0" rtlCol="0" anchor="t"/>
          <a:lstStyle/>
          <a:p>
            <a:pPr algn="ctr" indent="0" marL="0">
              <a:buNone/>
            </a:pPr>
            <a:r>
              <a:rPr lang="en-US" sz="4400" b="1" dirty="0">
                <a:solidFill>
                  <a:srgbClr val="0F172A"/>
                </a:solidFill>
                <a:latin typeface="Cambria" pitchFamily="34" charset="0"/>
                <a:ea typeface="Cambria" pitchFamily="34" charset="-122"/>
                <a:cs typeface="Cambria" pitchFamily="34" charset="-120"/>
              </a:rPr>
              <a:t>78</a:t>
            </a:r>
            <a:endParaRPr lang="en-US" sz="4400" dirty="0"/>
          </a:p>
        </p:txBody>
      </p:sp>
      <p:sp>
        <p:nvSpPr>
          <p:cNvPr id="5" name="Text 2"/>
          <p:cNvSpPr txBox="1"/>
          <p:nvPr/>
        </p:nvSpPr>
        <p:spPr>
          <a:xfrm>
            <a:off x="365760" y="2971800"/>
            <a:ext cx="3566160" cy="274320"/>
          </a:xfrm>
          <a:prstGeom prst="rect">
            <a:avLst/>
          </a:prstGeom>
          <a:noFill/>
          <a:ln/>
        </p:spPr>
        <p:txBody>
          <a:bodyPr wrap="square" lIns="0" tIns="0" rIns="0" bIns="0" rtlCol="0" anchor="t"/>
          <a:lstStyle/>
          <a:p>
            <a:pPr algn="ctr" indent="0" marL="0">
              <a:buNone/>
            </a:pPr>
            <a:r>
              <a:rPr lang="en-US" sz="1100" dirty="0">
                <a:solidFill>
                  <a:srgbClr val="475569"/>
                </a:solidFill>
                <a:latin typeface="Calibri" pitchFamily="34" charset="0"/>
                <a:ea typeface="Calibri" pitchFamily="34" charset="-122"/>
                <a:cs typeface="Calibri" pitchFamily="34" charset="-120"/>
              </a:rPr>
              <a:t>of 209 test clips locked</a:t>
            </a:r>
            <a:endParaRPr lang="en-US" sz="1100" dirty="0"/>
          </a:p>
        </p:txBody>
      </p:sp>
      <p:sp>
        <p:nvSpPr>
          <p:cNvPr id="6" name="stat audio-twin label agreement in train"/>
          <p:cNvSpPr/>
          <p:nvPr/>
        </p:nvSpPr>
        <p:spPr>
          <a:xfrm>
            <a:off x="4297680" y="1143000"/>
            <a:ext cx="2103120" cy="1234440"/>
          </a:xfrm>
          <a:prstGeom prst="roundRect">
            <a:avLst>
              <a:gd name="adj" fmla="val 8889"/>
            </a:avLst>
          </a:prstGeom>
          <a:solidFill>
            <a:srgbClr val="F3F4F9"/>
          </a:solidFill>
          <a:ln/>
        </p:spPr>
      </p:sp>
      <p:sp>
        <p:nvSpPr>
          <p:cNvPr id="7" name="Text 4"/>
          <p:cNvSpPr txBox="1"/>
          <p:nvPr/>
        </p:nvSpPr>
        <p:spPr>
          <a:xfrm>
            <a:off x="4480560" y="1261872"/>
            <a:ext cx="1737360" cy="548640"/>
          </a:xfrm>
          <a:prstGeom prst="rect">
            <a:avLst/>
          </a:prstGeom>
          <a:noFill/>
          <a:ln/>
        </p:spPr>
        <p:txBody>
          <a:bodyPr wrap="square" lIns="0" tIns="0" rIns="0" bIns="0" rtlCol="0" anchor="t"/>
          <a:lstStyle/>
          <a:p>
            <a:pPr indent="0" marL="0">
              <a:buNone/>
            </a:pPr>
            <a:r>
              <a:rPr lang="en-US" sz="2600" b="1" dirty="0">
                <a:solidFill>
                  <a:srgbClr val="059669"/>
                </a:solidFill>
                <a:latin typeface="Cambria" pitchFamily="34" charset="0"/>
                <a:ea typeface="Cambria" pitchFamily="34" charset="-122"/>
                <a:cs typeface="Cambria" pitchFamily="34" charset="-120"/>
              </a:rPr>
              <a:t>99.1%</a:t>
            </a:r>
            <a:endParaRPr lang="en-US" sz="2600" dirty="0"/>
          </a:p>
        </p:txBody>
      </p:sp>
      <p:sp>
        <p:nvSpPr>
          <p:cNvPr id="8" name="Text 5"/>
          <p:cNvSpPr txBox="1"/>
          <p:nvPr/>
        </p:nvSpPr>
        <p:spPr>
          <a:xfrm>
            <a:off x="4480560" y="1810512"/>
            <a:ext cx="1783080" cy="5029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audio-twin label agreement in train</a:t>
            </a:r>
            <a:endParaRPr lang="en-US" sz="1050" dirty="0"/>
          </a:p>
        </p:txBody>
      </p:sp>
      <p:sp>
        <p:nvSpPr>
          <p:cNvPr id="9" name="stat transcript matches agree in train"/>
          <p:cNvSpPr/>
          <p:nvPr/>
        </p:nvSpPr>
        <p:spPr>
          <a:xfrm>
            <a:off x="6537960" y="1143000"/>
            <a:ext cx="2103120" cy="1234440"/>
          </a:xfrm>
          <a:prstGeom prst="roundRect">
            <a:avLst>
              <a:gd name="adj" fmla="val 8889"/>
            </a:avLst>
          </a:prstGeom>
          <a:solidFill>
            <a:srgbClr val="F3F4F9"/>
          </a:solidFill>
          <a:ln/>
        </p:spPr>
      </p:sp>
      <p:sp>
        <p:nvSpPr>
          <p:cNvPr id="10" name="Text 7"/>
          <p:cNvSpPr txBox="1"/>
          <p:nvPr/>
        </p:nvSpPr>
        <p:spPr>
          <a:xfrm>
            <a:off x="6720840" y="1261872"/>
            <a:ext cx="1737360" cy="548640"/>
          </a:xfrm>
          <a:prstGeom prst="rect">
            <a:avLst/>
          </a:prstGeom>
          <a:noFill/>
          <a:ln/>
        </p:spPr>
        <p:txBody>
          <a:bodyPr wrap="square" lIns="0" tIns="0" rIns="0" bIns="0" rtlCol="0" anchor="t"/>
          <a:lstStyle/>
          <a:p>
            <a:pPr indent="0" marL="0">
              <a:buNone/>
            </a:pPr>
            <a:r>
              <a:rPr lang="en-US" sz="2600" b="1" dirty="0">
                <a:solidFill>
                  <a:srgbClr val="2563EB"/>
                </a:solidFill>
                <a:latin typeface="Cambria" pitchFamily="34" charset="0"/>
                <a:ea typeface="Cambria" pitchFamily="34" charset="-122"/>
                <a:cs typeface="Cambria" pitchFamily="34" charset="-120"/>
              </a:rPr>
              <a:t>35 / 35</a:t>
            </a:r>
            <a:endParaRPr lang="en-US" sz="2600" dirty="0"/>
          </a:p>
        </p:txBody>
      </p:sp>
      <p:sp>
        <p:nvSpPr>
          <p:cNvPr id="11" name="Text 8"/>
          <p:cNvSpPr txBox="1"/>
          <p:nvPr/>
        </p:nvSpPr>
        <p:spPr>
          <a:xfrm>
            <a:off x="6720840" y="1810512"/>
            <a:ext cx="1783080" cy="50292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transcript matches agree in train</a:t>
            </a:r>
            <a:endParaRPr lang="en-US" sz="1050" dirty="0"/>
          </a:p>
        </p:txBody>
      </p:sp>
      <p:sp>
        <p:nvSpPr>
          <p:cNvPr id="12" name="badge LuShieldCheck"/>
          <p:cNvSpPr/>
          <p:nvPr/>
        </p:nvSpPr>
        <p:spPr>
          <a:xfrm>
            <a:off x="4297680" y="2697480"/>
            <a:ext cx="457200" cy="457200"/>
          </a:xfrm>
          <a:prstGeom prst="ellipse">
            <a:avLst/>
          </a:prstGeom>
          <a:solidFill>
            <a:srgbClr val="059669">
              <a:alpha val="20000"/>
            </a:srgbClr>
          </a:solidFill>
          <a:ln/>
        </p:spPr>
      </p:sp>
      <p:pic>
        <p:nvPicPr>
          <p:cNvPr id="13" name="Image 0" descr="ShieldCheck icon">    </p:cNvPr>
          <p:cNvPicPr>
            <a:picLocks noChangeAspect="1"/>
          </p:cNvPicPr>
          <p:nvPr/>
        </p:nvPicPr>
        <p:blipFill>
          <a:blip r:embed="rId2"/>
          <a:stretch>
            <a:fillRect/>
          </a:stretch>
        </p:blipFill>
        <p:spPr>
          <a:xfrm>
            <a:off x="4398264" y="2798064"/>
            <a:ext cx="256032" cy="256032"/>
          </a:xfrm>
          <a:prstGeom prst="rect">
            <a:avLst/>
          </a:prstGeom>
        </p:spPr>
      </p:pic>
      <p:sp>
        <p:nvSpPr>
          <p:cNvPr id="14" name="Text 10"/>
          <p:cNvSpPr txBox="1"/>
          <p:nvPr/>
        </p:nvSpPr>
        <p:spPr>
          <a:xfrm>
            <a:off x="4892040" y="2697480"/>
            <a:ext cx="3749040" cy="192024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Rule: </a:t>
            </a:r>
            <a:pPr indent="0" marL="0">
              <a:buNone/>
            </a:pPr>
            <a:r>
              <a:rPr lang="en-US" sz="1200" dirty="0">
                <a:solidFill>
                  <a:srgbClr val="475569"/>
                </a:solidFill>
                <a:latin typeface="Calibri" pitchFamily="34" charset="0"/>
                <a:ea typeface="Calibri" pitchFamily="34" charset="-122"/>
                <a:cs typeface="Calibri" pitchFamily="34" charset="-120"/>
              </a:rPr>
              <a:t>a test clip takes its training twin's label when the audio matches (hash, or same duration and Whisper cosine &gt; 0.9), or a 3+ word transcript matches exactly.</a:t>
            </a:r>
            <a:endParaRPr lang="en-US" sz="1200" dirty="0"/>
          </a:p>
          <a:p>
            <a:pPr indent="0" marL="0">
              <a:buNone/>
            </a:pPr>
            <a:r>
              <a:rPr lang="en-US" sz="600" dirty="0">
                <a:solidFill>
                  <a:srgbClr val="475569"/>
                </a:solidFill>
                <a:latin typeface="Calibri" pitchFamily="34" charset="0"/>
                <a:ea typeface="Calibri" pitchFamily="34" charset="-122"/>
                <a:cs typeface="Calibri" pitchFamily="34" charset="-120"/>
              </a:rPr>
              <a:t> </a:t>
            </a:r>
            <a:endParaRPr lang="en-US" sz="1200" dirty="0"/>
          </a:p>
          <a:p>
            <a:pPr indent="0" marL="0">
              <a:buNone/>
            </a:pPr>
            <a:r>
              <a:rPr lang="en-US" sz="1200" b="1" dirty="0">
                <a:solidFill>
                  <a:srgbClr val="0F172A"/>
                </a:solidFill>
                <a:latin typeface="Calibri" pitchFamily="34" charset="0"/>
                <a:ea typeface="Calibri" pitchFamily="34" charset="-122"/>
                <a:cs typeface="Calibri" pitchFamily="34" charset="-120"/>
              </a:rPr>
              <a:t>Legitimate: </a:t>
            </a:r>
            <a:pPr indent="0" marL="0">
              <a:buNone/>
            </a:pPr>
            <a:r>
              <a:rPr lang="en-US" sz="1200" dirty="0">
                <a:solidFill>
                  <a:srgbClr val="475569"/>
                </a:solidFill>
                <a:latin typeface="Calibri" pitchFamily="34" charset="0"/>
                <a:ea typeface="Calibri" pitchFamily="34" charset="-122"/>
                <a:cs typeface="Calibri" pitchFamily="34" charset="-120"/>
              </a:rPr>
              <a:t>only competition training labels, validated on training data first.</a:t>
            </a:r>
            <a:endParaRPr lang="en-US" sz="12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lIns="0" tIns="0" rIns="0" bIns="0" rtlCol="0" anchor="ctr"/>
          <a:lstStyle/>
          <a:p>
            <a:pPr algn="l" indent="0" marL="0">
              <a:buNone/>
            </a:pPr>
            <a:r>
              <a:rPr lang="en-US" sz="2600" b="1" dirty="0">
                <a:solidFill>
                  <a:srgbClr val="0F172A"/>
                </a:solidFill>
              </a:rPr>
              <a:t>How the score was built, step by step</a:t>
            </a:r>
            <a:endParaRPr lang="en-US" sz="2600" dirty="0"/>
          </a:p>
        </p:txBody>
      </p:sp>
      <p:graphicFrame>
        <p:nvGraphicFramePr>
          <p:cNvPr id="3" name="Chart 0" descr=""/>
          <p:cNvGraphicFramePr/>
          <p:nvPr/>
        </p:nvGraphicFramePr>
        <p:xfrm>
          <a:off x="365760" y="105156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4" name="gain"/>
          <p:cNvSpPr/>
          <p:nvPr/>
        </p:nvSpPr>
        <p:spPr>
          <a:xfrm>
            <a:off x="6355080" y="1188720"/>
            <a:ext cx="2286000" cy="1463040"/>
          </a:xfrm>
          <a:prstGeom prst="roundRect">
            <a:avLst>
              <a:gd name="adj" fmla="val 7500"/>
            </a:avLst>
          </a:prstGeom>
          <a:solidFill>
            <a:srgbClr val="F3F4F9"/>
          </a:solidFill>
          <a:ln/>
        </p:spPr>
      </p:sp>
      <p:sp>
        <p:nvSpPr>
          <p:cNvPr id="5" name="Text 2"/>
          <p:cNvSpPr txBox="1"/>
          <p:nvPr/>
        </p:nvSpPr>
        <p:spPr>
          <a:xfrm>
            <a:off x="6537960" y="1298448"/>
            <a:ext cx="1920240" cy="640080"/>
          </a:xfrm>
          <a:prstGeom prst="rect">
            <a:avLst/>
          </a:prstGeom>
          <a:noFill/>
          <a:ln/>
        </p:spPr>
        <p:txBody>
          <a:bodyPr wrap="square" lIns="0" tIns="0" rIns="0" bIns="0" rtlCol="0" anchor="t"/>
          <a:lstStyle/>
          <a:p>
            <a:pPr indent="0" marL="0">
              <a:buNone/>
            </a:pPr>
            <a:r>
              <a:rPr lang="en-US" sz="3200" b="1" dirty="0">
                <a:solidFill>
                  <a:srgbClr val="059669"/>
                </a:solidFill>
                <a:latin typeface="Cambria" pitchFamily="34" charset="0"/>
                <a:ea typeface="Cambria" pitchFamily="34" charset="-122"/>
                <a:cs typeface="Cambria" pitchFamily="34" charset="-120"/>
              </a:rPr>
              <a:t>+0.039</a:t>
            </a:r>
            <a:endParaRPr lang="en-US" sz="3200" dirty="0"/>
          </a:p>
        </p:txBody>
      </p:sp>
      <p:sp>
        <p:nvSpPr>
          <p:cNvPr id="6" name="Text 3"/>
          <p:cNvSpPr txBox="1"/>
          <p:nvPr/>
        </p:nvSpPr>
        <p:spPr>
          <a:xfrm>
            <a:off x="6537960" y="1938528"/>
            <a:ext cx="1920240" cy="59436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honest CV gained in four adopted steps</a:t>
            </a:r>
            <a:endParaRPr lang="en-US" sz="1100" dirty="0"/>
          </a:p>
        </p:txBody>
      </p:sp>
      <p:sp>
        <p:nvSpPr>
          <p:cNvPr id="7" name="public note"/>
          <p:cNvSpPr/>
          <p:nvPr/>
        </p:nvSpPr>
        <p:spPr>
          <a:xfrm>
            <a:off x="6355080" y="2834640"/>
            <a:ext cx="2286000" cy="1737360"/>
          </a:xfrm>
          <a:prstGeom prst="roundRect">
            <a:avLst>
              <a:gd name="adj" fmla="val 6316"/>
            </a:avLst>
          </a:prstGeom>
          <a:solidFill>
            <a:srgbClr val="F3F4F9"/>
          </a:solidFill>
          <a:ln/>
        </p:spPr>
      </p:sp>
      <p:sp>
        <p:nvSpPr>
          <p:cNvPr id="8" name="Text 5"/>
          <p:cNvSpPr txBox="1"/>
          <p:nvPr/>
        </p:nvSpPr>
        <p:spPr>
          <a:xfrm>
            <a:off x="6537960" y="2944368"/>
            <a:ext cx="1920240" cy="548640"/>
          </a:xfrm>
          <a:prstGeom prst="rect">
            <a:avLst/>
          </a:prstGeom>
          <a:noFill/>
          <a:ln/>
        </p:spPr>
        <p:txBody>
          <a:bodyPr wrap="square" lIns="0" tIns="0" rIns="0" bIns="0" rtlCol="0" anchor="t"/>
          <a:lstStyle/>
          <a:p>
            <a:pPr indent="0" marL="0">
              <a:buNone/>
            </a:pPr>
            <a:r>
              <a:rPr lang="en-US" sz="2800" b="1" dirty="0">
                <a:solidFill>
                  <a:srgbClr val="2563EB"/>
                </a:solidFill>
                <a:latin typeface="Cambria" pitchFamily="34" charset="0"/>
                <a:ea typeface="Cambria" pitchFamily="34" charset="-122"/>
                <a:cs typeface="Cambria" pitchFamily="34" charset="-120"/>
              </a:rPr>
              <a:t>0.942</a:t>
            </a:r>
            <a:endParaRPr lang="en-US" sz="2800" dirty="0"/>
          </a:p>
        </p:txBody>
      </p:sp>
      <p:sp>
        <p:nvSpPr>
          <p:cNvPr id="9" name="Text 6"/>
          <p:cNvSpPr txBox="1"/>
          <p:nvPr/>
        </p:nvSpPr>
        <p:spPr>
          <a:xfrm>
            <a:off x="6537960" y="3520440"/>
            <a:ext cx="1920240" cy="96012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where the public board plateaued: with ~90 clips it could not see these gains</a:t>
            </a:r>
            <a:endParaRPr lang="en-US" sz="11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lIns="0" tIns="0" rIns="0" bIns="0" rtlCol="0" anchor="ctr"/>
          <a:lstStyle/>
          <a:p>
            <a:pPr algn="l" indent="0" marL="0">
              <a:buNone/>
            </a:pPr>
            <a:r>
              <a:rPr lang="en-US" sz="2600" b="1" dirty="0">
                <a:solidFill>
                  <a:srgbClr val="0F172A"/>
                </a:solidFill>
              </a:rPr>
              <a:t>What did not work: about 50 ideas, measured</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024128"/>
          <a:ext cx="8138160" cy="914400"/>
        </p:xfrm>
        <a:graphic>
          <a:graphicData uri="http://schemas.openxmlformats.org/drawingml/2006/table">
            <a:tbl>
              <a:tblPr/>
              <a:tblGrid>
                <a:gridCol w="3063240"/>
                <a:gridCol w="1965960"/>
                <a:gridCol w="310896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Idea</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r>
              <a:tr h="274320">
                <a:tc>
                  <a:txBody>
                    <a:bodyPr/>
                    <a:lstStyle/>
                    <a:p>
                      <a:pPr indent="0" marL="0">
                        <a:buNone/>
                      </a:pPr>
                      <a:r>
                        <a:rPr lang="en-US" sz="1050" b="1" dirty="0">
                          <a:solidFill>
                            <a:srgbClr val="0F172A"/>
                          </a:solidFill>
                          <a:latin typeface="Calibri" pitchFamily="34" charset="0"/>
                          <a:ea typeface="Calibri" pitchFamily="34" charset="-122"/>
                          <a:cs typeface="Calibri" pitchFamily="34" charset="-120"/>
                        </a:rPr>
                        <a:t>Fine-tuning Whisper (full and LP-FT)</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0.55; LP-FT fell below its init</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660 clips per fold: the frozen probe already fits</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172A"/>
                          </a:solidFill>
                          <a:latin typeface="Calibri" pitchFamily="34" charset="0"/>
                          <a:ea typeface="Calibri" pitchFamily="34" charset="-122"/>
                          <a:cs typeface="Calibri" pitchFamily="34" charset="-120"/>
                        </a:rPr>
                        <a:t>emotion2vec+, CLAP, openSMILE</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0.56–0.73 alone</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Emotion and general-audio models don't transfer to Hindi</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r>
              <a:tr h="274320">
                <a:tc>
                  <a:txBody>
                    <a:bodyPr/>
                    <a:lstStyle/>
                    <a:p>
                      <a:pPr indent="0" marL="0">
                        <a:buNone/>
                      </a:pPr>
                      <a:r>
                        <a:rPr lang="en-US" sz="1050" b="1" dirty="0">
                          <a:solidFill>
                            <a:srgbClr val="0F172A"/>
                          </a:solidFill>
                          <a:latin typeface="Calibri" pitchFamily="34" charset="0"/>
                          <a:ea typeface="Calibri" pitchFamily="34" charset="-122"/>
                          <a:cs typeface="Calibri" pitchFamily="34" charset="-120"/>
                        </a:rPr>
                        <a:t>WavLM, Whisper-v2, Dasheng, Gemma-4 encoders</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0.81–0.89 alone, Δ &lt; +0.005</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Strong but redundant with Whisper-v3</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172A"/>
                          </a:solidFill>
                          <a:latin typeface="Calibri" pitchFamily="34" charset="0"/>
                          <a:ea typeface="Calibri" pitchFamily="34" charset="-122"/>
                          <a:cs typeface="Calibri" pitchFamily="34" charset="-120"/>
                        </a:rPr>
                        <a:t>Audio-LLM zero-shot (Qwen2-Audio, Gemma-4)</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0.31–0.75</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Supervised probes win every time</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r>
              <a:tr h="274320">
                <a:tc>
                  <a:txBody>
                    <a:bodyPr/>
                    <a:lstStyle/>
                    <a:p>
                      <a:pPr indent="0" marL="0">
                        <a:buNone/>
                      </a:pPr>
                      <a:r>
                        <a:rPr lang="en-US" sz="1050" b="1" dirty="0">
                          <a:solidFill>
                            <a:srgbClr val="0F172A"/>
                          </a:solidFill>
                          <a:latin typeface="Calibri" pitchFamily="34" charset="0"/>
                          <a:ea typeface="Calibri" pitchFamily="34" charset="-122"/>
                          <a:cs typeface="Calibri" pitchFamily="34" charset="-120"/>
                        </a:rPr>
                        <a:t>Pseudo-labels, label spreading, kNN</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no robust gain</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Gains came from lucky settings</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172A"/>
                          </a:solidFill>
                          <a:latin typeface="Calibri" pitchFamily="34" charset="0"/>
                          <a:ea typeface="Calibri" pitchFamily="34" charset="-122"/>
                          <a:cs typeface="Calibri" pitchFamily="34" charset="-120"/>
                        </a:rPr>
                        <a:t>LR stacker, class-bias tuning, calibration</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−0.021 to 0.000</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Learned combiners overfit 826 clips</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r>
              <a:tr h="274320">
                <a:tc>
                  <a:txBody>
                    <a:bodyPr/>
                    <a:lstStyle/>
                    <a:p>
                      <a:pPr indent="0" marL="0">
                        <a:buNone/>
                      </a:pPr>
                      <a:r>
                        <a:rPr lang="en-US" sz="1050" b="1" dirty="0">
                          <a:solidFill>
                            <a:srgbClr val="0F172A"/>
                          </a:solidFill>
                          <a:latin typeface="Calibri" pitchFamily="34" charset="0"/>
                          <a:ea typeface="Calibri" pitchFamily="34" charset="-122"/>
                          <a:cs typeface="Calibri" pitchFamily="34" charset="-120"/>
                        </a:rPr>
                        <a:t>Speaker normalisation (x-vector clusters)</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−0.006 to −0.026</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Clusters partly encode emotion itself</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274320">
                <a:tc>
                  <a:txBody>
                    <a:bodyPr/>
                    <a:lstStyle/>
                    <a:p>
                      <a:pPr indent="0" marL="0">
                        <a:buNone/>
                      </a:pPr>
                      <a:r>
                        <a:rPr lang="en-US" sz="1050" b="1" dirty="0">
                          <a:solidFill>
                            <a:srgbClr val="0F172A"/>
                          </a:solidFill>
                          <a:latin typeface="Calibri" pitchFamily="34" charset="0"/>
                          <a:ea typeface="Calibri" pitchFamily="34" charset="-122"/>
                          <a:cs typeface="Calibri" pitchFamily="34" charset="-120"/>
                        </a:rPr>
                        <a:t>External Indian SER data, English translation</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−0.009 / −0.005</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Domain mismatch; text gains redundant</a:t>
                      </a:r>
                      <a:endParaRPr lang="en-US" sz="1050" dirty="0">
                        <a:latin typeface="Calibri" charset="0"/>
                        <a:ea typeface="Calibri" charset="0"/>
                        <a:cs typeface="Calibri" charset="0"/>
                      </a:endParaRPr>
                    </a:p>
                  </a:txBody>
                  <a:tcPr marL="63500" marR="63500" marT="25400" marB="254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9"/>
                    </a:solidFill>
                  </a:tcPr>
                </a:tc>
              </a:tr>
            </a:tbl>
          </a:graphicData>
        </a:graphic>
      </p:graphicFrame>
      <p:sp>
        <p:nvSpPr>
          <p:cNvPr id="4" name="lesson"/>
          <p:cNvSpPr/>
          <p:nvPr/>
        </p:nvSpPr>
        <p:spPr>
          <a:xfrm>
            <a:off x="502920" y="3886200"/>
            <a:ext cx="8138160" cy="731520"/>
          </a:xfrm>
          <a:prstGeom prst="roundRect">
            <a:avLst>
              <a:gd name="adj" fmla="val 15000"/>
            </a:avLst>
          </a:prstGeom>
          <a:solidFill>
            <a:srgbClr val="FFF1E6"/>
          </a:solidFill>
          <a:ln/>
        </p:spPr>
      </p:sp>
      <p:sp>
        <p:nvSpPr>
          <p:cNvPr id="5" name="badge LuLightbulb"/>
          <p:cNvSpPr/>
          <p:nvPr/>
        </p:nvSpPr>
        <p:spPr>
          <a:xfrm>
            <a:off x="685800" y="3995928"/>
            <a:ext cx="512064" cy="512064"/>
          </a:xfrm>
          <a:prstGeom prst="ellipse">
            <a:avLst/>
          </a:prstGeom>
          <a:solidFill>
            <a:srgbClr val="D97706">
              <a:alpha val="20000"/>
            </a:srgbClr>
          </a:solidFill>
          <a:ln/>
        </p:spPr>
      </p:sp>
      <p:pic>
        <p:nvPicPr>
          <p:cNvPr id="6" name="Image 0" descr="Lightbulb icon">    </p:cNvPr>
          <p:cNvPicPr>
            <a:picLocks noChangeAspect="1"/>
          </p:cNvPicPr>
          <p:nvPr/>
        </p:nvPicPr>
        <p:blipFill>
          <a:blip r:embed="rId1"/>
          <a:stretch>
            <a:fillRect/>
          </a:stretch>
        </p:blipFill>
        <p:spPr>
          <a:xfrm>
            <a:off x="798454" y="4108582"/>
            <a:ext cx="286756" cy="286756"/>
          </a:xfrm>
          <a:prstGeom prst="rect">
            <a:avLst/>
          </a:prstGeom>
        </p:spPr>
      </p:pic>
      <p:sp>
        <p:nvSpPr>
          <p:cNvPr id="7" name="Text 3"/>
          <p:cNvSpPr txBox="1"/>
          <p:nvPr/>
        </p:nvSpPr>
        <p:spPr>
          <a:xfrm>
            <a:off x="1371600" y="3886200"/>
            <a:ext cx="7132320" cy="731520"/>
          </a:xfrm>
          <a:prstGeom prst="rect">
            <a:avLst/>
          </a:prstGeom>
          <a:noFill/>
          <a:ln/>
        </p:spPr>
        <p:txBody>
          <a:bodyPr wrap="square" lIns="0" tIns="0" rIns="0" bIns="0" rtlCol="0" anchor="ctr"/>
          <a:lstStyle/>
          <a:p>
            <a:pPr indent="0" marL="0">
              <a:buNone/>
            </a:pPr>
            <a:r>
              <a:rPr lang="en-US" sz="1250" b="1" dirty="0">
                <a:solidFill>
                  <a:srgbClr val="D97706"/>
                </a:solidFill>
                <a:latin typeface="Calibri" pitchFamily="34" charset="0"/>
                <a:ea typeface="Calibri" pitchFamily="34" charset="-122"/>
                <a:cs typeface="Calibri" pitchFamily="34" charset="-120"/>
              </a:rPr>
              <a:t>Diversity dominates strength: </a:t>
            </a:r>
            <a:pPr indent="0" marL="0">
              <a:buNone/>
            </a:pPr>
            <a:r>
              <a:rPr lang="en-US" sz="1250" dirty="0">
                <a:solidFill>
                  <a:srgbClr val="0F172A"/>
                </a:solidFill>
                <a:latin typeface="Calibri" pitchFamily="34" charset="0"/>
                <a:ea typeface="Calibri" pitchFamily="34" charset="-122"/>
                <a:cs typeface="Calibri" pitchFamily="34" charset="-120"/>
              </a:rPr>
              <a:t>Gemma-4's audio encoder scored 0.855 alone, yet weakened the ensemble because it encoded what Whisper already knew.</a:t>
            </a:r>
            <a:endParaRPr lang="en-US" sz="125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8138160" cy="640080"/>
          </a:xfrm>
          <a:prstGeom prst="rect">
            <a:avLst/>
          </a:prstGeom>
          <a:noFill/>
          <a:ln/>
        </p:spPr>
        <p:txBody>
          <a:bodyPr wrap="square" lIns="0" tIns="0" rIns="0" bIns="0" rtlCol="0" anchor="ctr"/>
          <a:lstStyle/>
          <a:p>
            <a:pPr algn="l" indent="0" marL="0">
              <a:buNone/>
            </a:pPr>
            <a:r>
              <a:rPr lang="en-US" sz="2600" b="1" dirty="0">
                <a:solidFill>
                  <a:srgbClr val="0F172A"/>
                </a:solidFill>
              </a:rPr>
              <a:t>Result: 6th of 51 on the private leaderboard</a:t>
            </a:r>
            <a:endParaRPr lang="en-US" sz="2600" dirty="0"/>
          </a:p>
        </p:txBody>
      </p:sp>
      <p:sp>
        <p:nvSpPr>
          <p:cNvPr id="3" name="Text 1"/>
          <p:cNvSpPr txBox="1"/>
          <p:nvPr/>
        </p:nvSpPr>
        <p:spPr>
          <a:xfrm>
            <a:off x="502920" y="914400"/>
            <a:ext cx="1463040" cy="1828800"/>
          </a:xfrm>
          <a:prstGeom prst="rect">
            <a:avLst/>
          </a:prstGeom>
          <a:noFill/>
          <a:ln/>
        </p:spPr>
        <p:txBody>
          <a:bodyPr wrap="square" lIns="0" tIns="0" rIns="0" bIns="0" rtlCol="0" anchor="t"/>
          <a:lstStyle/>
          <a:p>
            <a:pPr indent="0" marL="0">
              <a:buNone/>
            </a:pPr>
            <a:r>
              <a:rPr lang="en-US" sz="13000" b="1" dirty="0">
                <a:solidFill>
                  <a:srgbClr val="E8711A"/>
                </a:solidFill>
                <a:latin typeface="Cambria" pitchFamily="34" charset="0"/>
                <a:ea typeface="Cambria" pitchFamily="34" charset="-122"/>
                <a:cs typeface="Cambria" pitchFamily="34" charset="-120"/>
              </a:rPr>
              <a:t>6</a:t>
            </a:r>
            <a:endParaRPr lang="en-US" sz="13000" dirty="0"/>
          </a:p>
        </p:txBody>
      </p:sp>
      <p:sp>
        <p:nvSpPr>
          <p:cNvPr id="4" name="Text 2"/>
          <p:cNvSpPr txBox="1"/>
          <p:nvPr/>
        </p:nvSpPr>
        <p:spPr>
          <a:xfrm>
            <a:off x="1371600" y="1143000"/>
            <a:ext cx="731520" cy="548640"/>
          </a:xfrm>
          <a:prstGeom prst="rect">
            <a:avLst/>
          </a:prstGeom>
          <a:noFill/>
          <a:ln/>
        </p:spPr>
        <p:txBody>
          <a:bodyPr wrap="square" lIns="0" tIns="0" rIns="0" bIns="0" rtlCol="0" anchor="t"/>
          <a:lstStyle/>
          <a:p>
            <a:pPr indent="0" marL="0">
              <a:buNone/>
            </a:pPr>
            <a:r>
              <a:rPr lang="en-US" sz="3000" b="1" dirty="0">
                <a:solidFill>
                  <a:srgbClr val="E8711A"/>
                </a:solidFill>
                <a:latin typeface="Cambria" pitchFamily="34" charset="0"/>
                <a:ea typeface="Cambria" pitchFamily="34" charset="-122"/>
                <a:cs typeface="Cambria" pitchFamily="34" charset="-120"/>
              </a:rPr>
              <a:t>th</a:t>
            </a:r>
            <a:endParaRPr lang="en-US" sz="3000" dirty="0"/>
          </a:p>
        </p:txBody>
      </p:sp>
      <p:sp>
        <p:nvSpPr>
          <p:cNvPr id="5" name="Text 3"/>
          <p:cNvSpPr txBox="1"/>
          <p:nvPr/>
        </p:nvSpPr>
        <p:spPr>
          <a:xfrm>
            <a:off x="1645920" y="2057400"/>
            <a:ext cx="1645920" cy="365760"/>
          </a:xfrm>
          <a:prstGeom prst="rect">
            <a:avLst/>
          </a:prstGeom>
          <a:noFill/>
          <a:ln/>
        </p:spPr>
        <p:txBody>
          <a:bodyPr wrap="square" lIns="0" tIns="0" rIns="0" bIns="0" rtlCol="0" anchor="t"/>
          <a:lstStyle/>
          <a:p>
            <a:pPr indent="0" marL="0">
              <a:buNone/>
            </a:pPr>
            <a:r>
              <a:rPr lang="en-US" sz="1500" dirty="0">
                <a:solidFill>
                  <a:srgbClr val="475569"/>
                </a:solidFill>
                <a:latin typeface="Calibri" pitchFamily="34" charset="0"/>
                <a:ea typeface="Calibri" pitchFamily="34" charset="-122"/>
                <a:cs typeface="Calibri" pitchFamily="34" charset="-120"/>
              </a:rPr>
              <a:t>of 51 teams</a:t>
            </a:r>
            <a:endParaRPr lang="en-US" sz="1500" dirty="0"/>
          </a:p>
        </p:txBody>
      </p:sp>
      <p:sp>
        <p:nvSpPr>
          <p:cNvPr id="6" name="Text 4"/>
          <p:cNvSpPr txBox="1"/>
          <p:nvPr/>
        </p:nvSpPr>
        <p:spPr>
          <a:xfrm>
            <a:off x="548640" y="2834640"/>
            <a:ext cx="2377440" cy="457200"/>
          </a:xfrm>
          <a:prstGeom prst="rect">
            <a:avLst/>
          </a:prstGeom>
          <a:noFill/>
          <a:ln/>
        </p:spPr>
        <p:txBody>
          <a:bodyPr wrap="square" lIns="0" tIns="0" rIns="0" bIns="0" rtlCol="0" anchor="t"/>
          <a:lstStyle/>
          <a:p>
            <a:pPr indent="0" marL="0">
              <a:buNone/>
            </a:pPr>
            <a:r>
              <a:rPr lang="en-US" sz="2600" b="1" dirty="0">
                <a:solidFill>
                  <a:srgbClr val="0F172A"/>
                </a:solidFill>
                <a:latin typeface="Cambria" pitchFamily="34" charset="0"/>
                <a:ea typeface="Cambria" pitchFamily="34" charset="-122"/>
                <a:cs typeface="Cambria" pitchFamily="34" charset="-120"/>
              </a:rPr>
              <a:t>0.9434</a:t>
            </a:r>
            <a:endParaRPr lang="en-US" sz="2600" dirty="0"/>
          </a:p>
        </p:txBody>
      </p:sp>
      <p:sp>
        <p:nvSpPr>
          <p:cNvPr id="7" name="Text 5"/>
          <p:cNvSpPr txBox="1"/>
          <p:nvPr/>
        </p:nvSpPr>
        <p:spPr>
          <a:xfrm>
            <a:off x="548640" y="3273552"/>
            <a:ext cx="2377440" cy="27432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private macro-F1</a:t>
            </a:r>
            <a:endParaRPr lang="en-US" sz="1100" dirty="0"/>
          </a:p>
        </p:txBody>
      </p:sp>
      <p:sp>
        <p:nvSpPr>
          <p:cNvPr id="8" name="Text 6"/>
          <p:cNvSpPr txBox="1"/>
          <p:nvPr/>
        </p:nvSpPr>
        <p:spPr>
          <a:xfrm>
            <a:off x="548640" y="3611880"/>
            <a:ext cx="2377440" cy="457200"/>
          </a:xfrm>
          <a:prstGeom prst="rect">
            <a:avLst/>
          </a:prstGeom>
          <a:noFill/>
          <a:ln/>
        </p:spPr>
        <p:txBody>
          <a:bodyPr wrap="square" lIns="0" tIns="0" rIns="0" bIns="0" rtlCol="0" anchor="t"/>
          <a:lstStyle/>
          <a:p>
            <a:pPr indent="0" marL="0">
              <a:buNone/>
            </a:pPr>
            <a:r>
              <a:rPr lang="en-US" sz="2600" b="1" dirty="0">
                <a:solidFill>
                  <a:srgbClr val="475569"/>
                </a:solidFill>
                <a:latin typeface="Cambria" pitchFamily="34" charset="0"/>
                <a:ea typeface="Cambria" pitchFamily="34" charset="-122"/>
                <a:cs typeface="Cambria" pitchFamily="34" charset="-120"/>
              </a:rPr>
              <a:t>0.9423</a:t>
            </a:r>
            <a:endParaRPr lang="en-US" sz="2600" dirty="0"/>
          </a:p>
        </p:txBody>
      </p:sp>
      <p:sp>
        <p:nvSpPr>
          <p:cNvPr id="9" name="Text 7"/>
          <p:cNvSpPr txBox="1"/>
          <p:nvPr/>
        </p:nvSpPr>
        <p:spPr>
          <a:xfrm>
            <a:off x="548640" y="4050792"/>
            <a:ext cx="2377440" cy="27432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public macro-F1</a:t>
            </a:r>
            <a:endParaRPr lang="en-US" sz="1100" dirty="0"/>
          </a:p>
        </p:txBody>
      </p:sp>
      <p:graphicFrame>
        <p:nvGraphicFramePr>
          <p:cNvPr id="10" name="Chart 0" descr=""/>
          <p:cNvGraphicFramePr/>
          <p:nvPr/>
        </p:nvGraphicFramePr>
        <p:xfrm>
          <a:off x="3200400" y="1005840"/>
          <a:ext cx="5486400" cy="292608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3291840" y="4023360"/>
            <a:ext cx="5349240" cy="685800"/>
          </a:xfrm>
          <a:prstGeom prst="rect">
            <a:avLst/>
          </a:prstGeom>
          <a:noFill/>
          <a:ln/>
        </p:spPr>
        <p:txBody>
          <a:bodyPr wrap="square" lIns="0" tIns="0" rIns="0" bIns="0" rtlCol="0" anchor="t"/>
          <a:lstStyle/>
          <a:p>
            <a:pPr indent="0" marL="0">
              <a:buNone/>
            </a:pPr>
            <a:r>
              <a:rPr lang="en-US" sz="1100" dirty="0">
                <a:solidFill>
                  <a:srgbClr val="475569"/>
                </a:solidFill>
                <a:latin typeface="Calibri" pitchFamily="34" charset="0"/>
                <a:ea typeface="Calibri" pitchFamily="34" charset="-122"/>
                <a:cs typeface="Calibri" pitchFamily="34" charset="-120"/>
              </a:rPr>
              <a:t>Public (~90 clips) and private (~125) disagree by a few clips both ways; first place is about two clips away. The dropped Gemma-4 candidate scored 0.952 private, exactly the variance our protocol was built around.</a:t>
            </a:r>
            <a:endParaRPr lang="en-US" sz="11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8046720" cy="1188720"/>
          </a:xfrm>
          <a:prstGeom prst="rect">
            <a:avLst/>
          </a:prstGeom>
          <a:noFill/>
          <a:ln/>
        </p:spPr>
        <p:txBody>
          <a:bodyPr wrap="square" lIns="0" tIns="0" rIns="0" bIns="0" rtlCol="0" anchor="b"/>
          <a:lstStyle/>
          <a:p>
            <a:pPr algn="l" indent="0" marL="0">
              <a:buNone/>
            </a:pPr>
            <a:r>
              <a:rPr lang="en-US" sz="4000" b="1" dirty="0">
                <a:solidFill>
                  <a:srgbClr val="0F172A"/>
                </a:solidFill>
              </a:rPr>
              <a:t>Takeaways</a:t>
            </a:r>
            <a:endParaRPr lang="en-US" sz="4000" dirty="0"/>
          </a:p>
        </p:txBody>
      </p:sp>
      <p:pic>
        <p:nvPicPr>
          <p:cNvPr id="3" name="Image 0" descr="ShieldCheck icon">    </p:cNvPr>
          <p:cNvPicPr>
            <a:picLocks noChangeAspect="1"/>
          </p:cNvPicPr>
          <p:nvPr/>
        </p:nvPicPr>
        <p:blipFill>
          <a:blip r:embed="rId1"/>
          <a:stretch>
            <a:fillRect/>
          </a:stretch>
        </p:blipFill>
        <p:spPr>
          <a:xfrm>
            <a:off x="548640" y="2414016"/>
            <a:ext cx="292608" cy="292608"/>
          </a:xfrm>
          <a:prstGeom prst="rect">
            <a:avLst/>
          </a:prstGeom>
        </p:spPr>
      </p:pic>
      <p:sp>
        <p:nvSpPr>
          <p:cNvPr id="4" name="Text 1"/>
          <p:cNvSpPr txBox="1"/>
          <p:nvPr/>
        </p:nvSpPr>
        <p:spPr>
          <a:xfrm>
            <a:off x="1005840" y="2377440"/>
            <a:ext cx="7589520" cy="365760"/>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Validate honestly: the leak was worth 0.04 of fake CV</a:t>
            </a:r>
            <a:endParaRPr lang="en-US" sz="1500" dirty="0"/>
          </a:p>
        </p:txBody>
      </p:sp>
      <p:pic>
        <p:nvPicPr>
          <p:cNvPr id="5" name="Image 1" descr="Snowflake icon">    </p:cNvPr>
          <p:cNvPicPr>
            <a:picLocks noChangeAspect="1"/>
          </p:cNvPicPr>
          <p:nvPr/>
        </p:nvPicPr>
        <p:blipFill>
          <a:blip r:embed="rId2"/>
          <a:stretch>
            <a:fillRect/>
          </a:stretch>
        </p:blipFill>
        <p:spPr>
          <a:xfrm>
            <a:off x="548640" y="2871216"/>
            <a:ext cx="292608" cy="292608"/>
          </a:xfrm>
          <a:prstGeom prst="rect">
            <a:avLst/>
          </a:prstGeom>
        </p:spPr>
      </p:pic>
      <p:sp>
        <p:nvSpPr>
          <p:cNvPr id="6" name="Text 2"/>
          <p:cNvSpPr txBox="1"/>
          <p:nvPr/>
        </p:nvSpPr>
        <p:spPr>
          <a:xfrm>
            <a:off x="1005840" y="2834640"/>
            <a:ext cx="7589520" cy="365760"/>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At small scale, frozen foundation models beat fine-tuning</a:t>
            </a:r>
            <a:endParaRPr lang="en-US" sz="1500" dirty="0"/>
          </a:p>
        </p:txBody>
      </p:sp>
      <p:pic>
        <p:nvPicPr>
          <p:cNvPr id="7" name="Image 2" descr="Users icon">    </p:cNvPr>
          <p:cNvPicPr>
            <a:picLocks noChangeAspect="1"/>
          </p:cNvPicPr>
          <p:nvPr/>
        </p:nvPicPr>
        <p:blipFill>
          <a:blip r:embed="rId3"/>
          <a:stretch>
            <a:fillRect/>
          </a:stretch>
        </p:blipFill>
        <p:spPr>
          <a:xfrm>
            <a:off x="548640" y="3328416"/>
            <a:ext cx="292608" cy="292608"/>
          </a:xfrm>
          <a:prstGeom prst="rect">
            <a:avLst/>
          </a:prstGeom>
        </p:spPr>
      </p:pic>
      <p:sp>
        <p:nvSpPr>
          <p:cNvPr id="8" name="Text 3"/>
          <p:cNvSpPr txBox="1"/>
          <p:nvPr/>
        </p:nvSpPr>
        <p:spPr>
          <a:xfrm>
            <a:off x="1005840" y="3291840"/>
            <a:ext cx="7589520" cy="365760"/>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Select ensemble members for diversity, measured on the blend</a:t>
            </a:r>
            <a:endParaRPr lang="en-US" sz="1500" dirty="0"/>
          </a:p>
        </p:txBody>
      </p:sp>
      <p:pic>
        <p:nvPicPr>
          <p:cNvPr id="9" name="Image 3" descr="ListChecks icon">    </p:cNvPr>
          <p:cNvPicPr>
            <a:picLocks noChangeAspect="1"/>
          </p:cNvPicPr>
          <p:nvPr/>
        </p:nvPicPr>
        <p:blipFill>
          <a:blip r:embed="rId4"/>
          <a:stretch>
            <a:fillRect/>
          </a:stretch>
        </p:blipFill>
        <p:spPr>
          <a:xfrm>
            <a:off x="548640" y="3785616"/>
            <a:ext cx="292608" cy="292608"/>
          </a:xfrm>
          <a:prstGeom prst="rect">
            <a:avLst/>
          </a:prstGeom>
        </p:spPr>
      </p:pic>
      <p:sp>
        <p:nvSpPr>
          <p:cNvPr id="10" name="Text 4"/>
          <p:cNvSpPr txBox="1"/>
          <p:nvPr/>
        </p:nvSpPr>
        <p:spPr>
          <a:xfrm>
            <a:off x="1005840" y="3749040"/>
            <a:ext cx="7589520" cy="365760"/>
          </a:xfrm>
          <a:prstGeom prst="rect">
            <a:avLst/>
          </a:prstGeom>
          <a:noFill/>
          <a:ln/>
        </p:spPr>
        <p:txBody>
          <a:bodyPr wrap="square" lIns="0" tIns="0" rIns="0" bIns="0" rtlCol="0" anchor="ctr"/>
          <a:lstStyle/>
          <a:p>
            <a:pPr indent="0" marL="0">
              <a:buNone/>
            </a:pPr>
            <a:r>
              <a:rPr lang="en-US" sz="1500" dirty="0">
                <a:solidFill>
                  <a:srgbClr val="0F172A"/>
                </a:solidFill>
                <a:latin typeface="Calibri" pitchFamily="34" charset="0"/>
                <a:ea typeface="Calibri" pitchFamily="34" charset="-122"/>
                <a:cs typeface="Calibri" pitchFamily="34" charset="-120"/>
              </a:rPr>
              <a:t>Decide before you measure: gains under 0.005 are noise</a:t>
            </a:r>
            <a:endParaRPr lang="en-US" sz="1500" dirty="0"/>
          </a:p>
        </p:txBody>
      </p:sp>
      <p:sp>
        <p:nvSpPr>
          <p:cNvPr id="11" name="wave 0"/>
          <p:cNvSpPr/>
          <p:nvPr/>
        </p:nvSpPr>
        <p:spPr>
          <a:xfrm>
            <a:off x="548640" y="4434840"/>
            <a:ext cx="69152" cy="91440"/>
          </a:xfrm>
          <a:prstGeom prst="roundRect">
            <a:avLst>
              <a:gd name="adj" fmla="val 50000"/>
            </a:avLst>
          </a:prstGeom>
          <a:solidFill>
            <a:srgbClr val="E11D48">
              <a:alpha val="60000"/>
            </a:srgbClr>
          </a:solidFill>
          <a:ln/>
        </p:spPr>
      </p:sp>
      <p:sp>
        <p:nvSpPr>
          <p:cNvPr id="12" name="wave 1"/>
          <p:cNvSpPr/>
          <p:nvPr/>
        </p:nvSpPr>
        <p:spPr>
          <a:xfrm>
            <a:off x="674370" y="4410731"/>
            <a:ext cx="69152" cy="139657"/>
          </a:xfrm>
          <a:prstGeom prst="roundRect">
            <a:avLst>
              <a:gd name="adj" fmla="val 50000"/>
            </a:avLst>
          </a:prstGeom>
          <a:solidFill>
            <a:srgbClr val="E11D48">
              <a:alpha val="60000"/>
            </a:srgbClr>
          </a:solidFill>
          <a:ln/>
        </p:spPr>
      </p:sp>
      <p:sp>
        <p:nvSpPr>
          <p:cNvPr id="13" name="wave 2"/>
          <p:cNvSpPr/>
          <p:nvPr/>
        </p:nvSpPr>
        <p:spPr>
          <a:xfrm>
            <a:off x="800100" y="4425891"/>
            <a:ext cx="69152" cy="109338"/>
          </a:xfrm>
          <a:prstGeom prst="roundRect">
            <a:avLst>
              <a:gd name="adj" fmla="val 50000"/>
            </a:avLst>
          </a:prstGeom>
          <a:solidFill>
            <a:srgbClr val="E11D48">
              <a:alpha val="60000"/>
            </a:srgbClr>
          </a:solidFill>
          <a:ln/>
        </p:spPr>
      </p:sp>
      <p:sp>
        <p:nvSpPr>
          <p:cNvPr id="14" name="wave 3"/>
          <p:cNvSpPr/>
          <p:nvPr/>
        </p:nvSpPr>
        <p:spPr>
          <a:xfrm>
            <a:off x="925830" y="4425793"/>
            <a:ext cx="69152" cy="109534"/>
          </a:xfrm>
          <a:prstGeom prst="roundRect">
            <a:avLst>
              <a:gd name="adj" fmla="val 50000"/>
            </a:avLst>
          </a:prstGeom>
          <a:solidFill>
            <a:srgbClr val="E11D48">
              <a:alpha val="60000"/>
            </a:srgbClr>
          </a:solidFill>
          <a:ln/>
        </p:spPr>
      </p:sp>
      <p:sp>
        <p:nvSpPr>
          <p:cNvPr id="15" name="wave 4"/>
          <p:cNvSpPr/>
          <p:nvPr/>
        </p:nvSpPr>
        <p:spPr>
          <a:xfrm>
            <a:off x="1051560" y="4390970"/>
            <a:ext cx="69152" cy="179180"/>
          </a:xfrm>
          <a:prstGeom prst="roundRect">
            <a:avLst>
              <a:gd name="adj" fmla="val 50000"/>
            </a:avLst>
          </a:prstGeom>
          <a:solidFill>
            <a:srgbClr val="E11D48">
              <a:alpha val="60000"/>
            </a:srgbClr>
          </a:solidFill>
          <a:ln/>
        </p:spPr>
      </p:sp>
      <p:sp>
        <p:nvSpPr>
          <p:cNvPr id="16" name="wave 5"/>
          <p:cNvSpPr/>
          <p:nvPr/>
        </p:nvSpPr>
        <p:spPr>
          <a:xfrm>
            <a:off x="1177290" y="4382613"/>
            <a:ext cx="69152" cy="195893"/>
          </a:xfrm>
          <a:prstGeom prst="roundRect">
            <a:avLst>
              <a:gd name="adj" fmla="val 50000"/>
            </a:avLst>
          </a:prstGeom>
          <a:solidFill>
            <a:srgbClr val="E11D48">
              <a:alpha val="60000"/>
            </a:srgbClr>
          </a:solidFill>
          <a:ln/>
        </p:spPr>
      </p:sp>
      <p:sp>
        <p:nvSpPr>
          <p:cNvPr id="17" name="wave 6"/>
          <p:cNvSpPr/>
          <p:nvPr/>
        </p:nvSpPr>
        <p:spPr>
          <a:xfrm>
            <a:off x="1303020" y="4397142"/>
            <a:ext cx="69152" cy="166836"/>
          </a:xfrm>
          <a:prstGeom prst="roundRect">
            <a:avLst>
              <a:gd name="adj" fmla="val 50000"/>
            </a:avLst>
          </a:prstGeom>
          <a:solidFill>
            <a:srgbClr val="E11D48">
              <a:alpha val="60000"/>
            </a:srgbClr>
          </a:solidFill>
          <a:ln/>
        </p:spPr>
      </p:sp>
      <p:sp>
        <p:nvSpPr>
          <p:cNvPr id="18" name="wave 7"/>
          <p:cNvSpPr/>
          <p:nvPr/>
        </p:nvSpPr>
        <p:spPr>
          <a:xfrm>
            <a:off x="1428750" y="4379629"/>
            <a:ext cx="69152" cy="201862"/>
          </a:xfrm>
          <a:prstGeom prst="roundRect">
            <a:avLst>
              <a:gd name="adj" fmla="val 50000"/>
            </a:avLst>
          </a:prstGeom>
          <a:solidFill>
            <a:srgbClr val="E11D48">
              <a:alpha val="60000"/>
            </a:srgbClr>
          </a:solidFill>
          <a:ln/>
        </p:spPr>
      </p:sp>
      <p:sp>
        <p:nvSpPr>
          <p:cNvPr id="19" name="wave 8"/>
          <p:cNvSpPr/>
          <p:nvPr/>
        </p:nvSpPr>
        <p:spPr>
          <a:xfrm>
            <a:off x="1554480" y="4418746"/>
            <a:ext cx="69152" cy="123628"/>
          </a:xfrm>
          <a:prstGeom prst="roundRect">
            <a:avLst>
              <a:gd name="adj" fmla="val 50000"/>
            </a:avLst>
          </a:prstGeom>
          <a:solidFill>
            <a:srgbClr val="E11D48">
              <a:alpha val="60000"/>
            </a:srgbClr>
          </a:solidFill>
          <a:ln/>
        </p:spPr>
      </p:sp>
      <p:sp>
        <p:nvSpPr>
          <p:cNvPr id="20" name="wave 9"/>
          <p:cNvSpPr/>
          <p:nvPr/>
        </p:nvSpPr>
        <p:spPr>
          <a:xfrm>
            <a:off x="1680210" y="4417550"/>
            <a:ext cx="69152" cy="126020"/>
          </a:xfrm>
          <a:prstGeom prst="roundRect">
            <a:avLst>
              <a:gd name="adj" fmla="val 50000"/>
            </a:avLst>
          </a:prstGeom>
          <a:solidFill>
            <a:srgbClr val="E11D48">
              <a:alpha val="60000"/>
            </a:srgbClr>
          </a:solidFill>
          <a:ln/>
        </p:spPr>
      </p:sp>
      <p:sp>
        <p:nvSpPr>
          <p:cNvPr id="21" name="wave 10"/>
          <p:cNvSpPr/>
          <p:nvPr/>
        </p:nvSpPr>
        <p:spPr>
          <a:xfrm>
            <a:off x="1805940" y="4332279"/>
            <a:ext cx="69152" cy="296562"/>
          </a:xfrm>
          <a:prstGeom prst="roundRect">
            <a:avLst>
              <a:gd name="adj" fmla="val 50000"/>
            </a:avLst>
          </a:prstGeom>
          <a:solidFill>
            <a:srgbClr val="D97706">
              <a:alpha val="60000"/>
            </a:srgbClr>
          </a:solidFill>
          <a:ln/>
        </p:spPr>
      </p:sp>
      <p:sp>
        <p:nvSpPr>
          <p:cNvPr id="22" name="wave 11"/>
          <p:cNvSpPr/>
          <p:nvPr/>
        </p:nvSpPr>
        <p:spPr>
          <a:xfrm>
            <a:off x="1931670" y="4403712"/>
            <a:ext cx="69152" cy="153696"/>
          </a:xfrm>
          <a:prstGeom prst="roundRect">
            <a:avLst>
              <a:gd name="adj" fmla="val 50000"/>
            </a:avLst>
          </a:prstGeom>
          <a:solidFill>
            <a:srgbClr val="D97706">
              <a:alpha val="60000"/>
            </a:srgbClr>
          </a:solidFill>
          <a:ln/>
        </p:spPr>
      </p:sp>
      <p:sp>
        <p:nvSpPr>
          <p:cNvPr id="23" name="wave 12"/>
          <p:cNvSpPr/>
          <p:nvPr/>
        </p:nvSpPr>
        <p:spPr>
          <a:xfrm>
            <a:off x="2057400" y="4357892"/>
            <a:ext cx="69152" cy="245336"/>
          </a:xfrm>
          <a:prstGeom prst="roundRect">
            <a:avLst>
              <a:gd name="adj" fmla="val 50000"/>
            </a:avLst>
          </a:prstGeom>
          <a:solidFill>
            <a:srgbClr val="D97706">
              <a:alpha val="60000"/>
            </a:srgbClr>
          </a:solidFill>
          <a:ln/>
        </p:spPr>
      </p:sp>
      <p:sp>
        <p:nvSpPr>
          <p:cNvPr id="24" name="wave 13"/>
          <p:cNvSpPr/>
          <p:nvPr/>
        </p:nvSpPr>
        <p:spPr>
          <a:xfrm>
            <a:off x="2183130" y="4414342"/>
            <a:ext cx="69152" cy="132437"/>
          </a:xfrm>
          <a:prstGeom prst="roundRect">
            <a:avLst>
              <a:gd name="adj" fmla="val 50000"/>
            </a:avLst>
          </a:prstGeom>
          <a:solidFill>
            <a:srgbClr val="D97706">
              <a:alpha val="60000"/>
            </a:srgbClr>
          </a:solidFill>
          <a:ln/>
        </p:spPr>
      </p:sp>
      <p:sp>
        <p:nvSpPr>
          <p:cNvPr id="25" name="wave 14"/>
          <p:cNvSpPr/>
          <p:nvPr/>
        </p:nvSpPr>
        <p:spPr>
          <a:xfrm>
            <a:off x="2308860" y="4406428"/>
            <a:ext cx="69152" cy="148265"/>
          </a:xfrm>
          <a:prstGeom prst="roundRect">
            <a:avLst>
              <a:gd name="adj" fmla="val 50000"/>
            </a:avLst>
          </a:prstGeom>
          <a:solidFill>
            <a:srgbClr val="D97706">
              <a:alpha val="60000"/>
            </a:srgbClr>
          </a:solidFill>
          <a:ln/>
        </p:spPr>
      </p:sp>
      <p:sp>
        <p:nvSpPr>
          <p:cNvPr id="26" name="wave 15"/>
          <p:cNvSpPr/>
          <p:nvPr/>
        </p:nvSpPr>
        <p:spPr>
          <a:xfrm>
            <a:off x="2434590" y="4354005"/>
            <a:ext cx="69152" cy="253110"/>
          </a:xfrm>
          <a:prstGeom prst="roundRect">
            <a:avLst>
              <a:gd name="adj" fmla="val 50000"/>
            </a:avLst>
          </a:prstGeom>
          <a:solidFill>
            <a:srgbClr val="D97706">
              <a:alpha val="60000"/>
            </a:srgbClr>
          </a:solidFill>
          <a:ln/>
        </p:spPr>
      </p:sp>
      <p:sp>
        <p:nvSpPr>
          <p:cNvPr id="27" name="wave 16"/>
          <p:cNvSpPr/>
          <p:nvPr/>
        </p:nvSpPr>
        <p:spPr>
          <a:xfrm>
            <a:off x="2560320" y="4320809"/>
            <a:ext cx="69152" cy="319502"/>
          </a:xfrm>
          <a:prstGeom prst="roundRect">
            <a:avLst>
              <a:gd name="adj" fmla="val 50000"/>
            </a:avLst>
          </a:prstGeom>
          <a:solidFill>
            <a:srgbClr val="D97706">
              <a:alpha val="60000"/>
            </a:srgbClr>
          </a:solidFill>
          <a:ln/>
        </p:spPr>
      </p:sp>
      <p:sp>
        <p:nvSpPr>
          <p:cNvPr id="28" name="wave 17"/>
          <p:cNvSpPr/>
          <p:nvPr/>
        </p:nvSpPr>
        <p:spPr>
          <a:xfrm>
            <a:off x="2686050" y="4409071"/>
            <a:ext cx="69152" cy="142977"/>
          </a:xfrm>
          <a:prstGeom prst="roundRect">
            <a:avLst>
              <a:gd name="adj" fmla="val 50000"/>
            </a:avLst>
          </a:prstGeom>
          <a:solidFill>
            <a:srgbClr val="D97706">
              <a:alpha val="60000"/>
            </a:srgbClr>
          </a:solidFill>
          <a:ln/>
        </p:spPr>
      </p:sp>
      <p:sp>
        <p:nvSpPr>
          <p:cNvPr id="29" name="wave 18"/>
          <p:cNvSpPr/>
          <p:nvPr/>
        </p:nvSpPr>
        <p:spPr>
          <a:xfrm>
            <a:off x="2811780" y="4368881"/>
            <a:ext cx="69152" cy="223357"/>
          </a:xfrm>
          <a:prstGeom prst="roundRect">
            <a:avLst>
              <a:gd name="adj" fmla="val 50000"/>
            </a:avLst>
          </a:prstGeom>
          <a:solidFill>
            <a:srgbClr val="D97706">
              <a:alpha val="60000"/>
            </a:srgbClr>
          </a:solidFill>
          <a:ln/>
        </p:spPr>
      </p:sp>
      <p:sp>
        <p:nvSpPr>
          <p:cNvPr id="30" name="wave 19"/>
          <p:cNvSpPr/>
          <p:nvPr/>
        </p:nvSpPr>
        <p:spPr>
          <a:xfrm>
            <a:off x="2937510" y="4404207"/>
            <a:ext cx="69152" cy="152706"/>
          </a:xfrm>
          <a:prstGeom prst="roundRect">
            <a:avLst>
              <a:gd name="adj" fmla="val 50000"/>
            </a:avLst>
          </a:prstGeom>
          <a:solidFill>
            <a:srgbClr val="D97706">
              <a:alpha val="60000"/>
            </a:srgbClr>
          </a:solidFill>
          <a:ln/>
        </p:spPr>
      </p:sp>
      <p:sp>
        <p:nvSpPr>
          <p:cNvPr id="31" name="wave 20"/>
          <p:cNvSpPr/>
          <p:nvPr/>
        </p:nvSpPr>
        <p:spPr>
          <a:xfrm>
            <a:off x="3063240" y="4427758"/>
            <a:ext cx="69152" cy="105605"/>
          </a:xfrm>
          <a:prstGeom prst="roundRect">
            <a:avLst>
              <a:gd name="adj" fmla="val 50000"/>
            </a:avLst>
          </a:prstGeom>
          <a:solidFill>
            <a:srgbClr val="64748B">
              <a:alpha val="60000"/>
            </a:srgbClr>
          </a:solidFill>
          <a:ln/>
        </p:spPr>
      </p:sp>
      <p:sp>
        <p:nvSpPr>
          <p:cNvPr id="32" name="wave 21"/>
          <p:cNvSpPr/>
          <p:nvPr/>
        </p:nvSpPr>
        <p:spPr>
          <a:xfrm>
            <a:off x="3188970" y="4306175"/>
            <a:ext cx="69152" cy="348770"/>
          </a:xfrm>
          <a:prstGeom prst="roundRect">
            <a:avLst>
              <a:gd name="adj" fmla="val 50000"/>
            </a:avLst>
          </a:prstGeom>
          <a:solidFill>
            <a:srgbClr val="64748B">
              <a:alpha val="60000"/>
            </a:srgbClr>
          </a:solidFill>
          <a:ln/>
        </p:spPr>
      </p:sp>
      <p:sp>
        <p:nvSpPr>
          <p:cNvPr id="33" name="wave 22"/>
          <p:cNvSpPr/>
          <p:nvPr/>
        </p:nvSpPr>
        <p:spPr>
          <a:xfrm>
            <a:off x="3314700" y="4368218"/>
            <a:ext cx="69152" cy="224684"/>
          </a:xfrm>
          <a:prstGeom prst="roundRect">
            <a:avLst>
              <a:gd name="adj" fmla="val 50000"/>
            </a:avLst>
          </a:prstGeom>
          <a:solidFill>
            <a:srgbClr val="64748B">
              <a:alpha val="60000"/>
            </a:srgbClr>
          </a:solidFill>
          <a:ln/>
        </p:spPr>
      </p:sp>
      <p:sp>
        <p:nvSpPr>
          <p:cNvPr id="34" name="wave 23"/>
          <p:cNvSpPr/>
          <p:nvPr/>
        </p:nvSpPr>
        <p:spPr>
          <a:xfrm>
            <a:off x="3440430" y="4375350"/>
            <a:ext cx="69152" cy="210421"/>
          </a:xfrm>
          <a:prstGeom prst="roundRect">
            <a:avLst>
              <a:gd name="adj" fmla="val 50000"/>
            </a:avLst>
          </a:prstGeom>
          <a:solidFill>
            <a:srgbClr val="64748B">
              <a:alpha val="60000"/>
            </a:srgbClr>
          </a:solidFill>
          <a:ln/>
        </p:spPr>
      </p:sp>
      <p:sp>
        <p:nvSpPr>
          <p:cNvPr id="35" name="wave 24"/>
          <p:cNvSpPr/>
          <p:nvPr/>
        </p:nvSpPr>
        <p:spPr>
          <a:xfrm>
            <a:off x="3566160" y="4423560"/>
            <a:ext cx="69152" cy="114001"/>
          </a:xfrm>
          <a:prstGeom prst="roundRect">
            <a:avLst>
              <a:gd name="adj" fmla="val 50000"/>
            </a:avLst>
          </a:prstGeom>
          <a:solidFill>
            <a:srgbClr val="64748B">
              <a:alpha val="60000"/>
            </a:srgbClr>
          </a:solidFill>
          <a:ln/>
        </p:spPr>
      </p:sp>
      <p:sp>
        <p:nvSpPr>
          <p:cNvPr id="36" name="wave 25"/>
          <p:cNvSpPr/>
          <p:nvPr/>
        </p:nvSpPr>
        <p:spPr>
          <a:xfrm>
            <a:off x="3691890" y="4390316"/>
            <a:ext cx="69152" cy="180489"/>
          </a:xfrm>
          <a:prstGeom prst="roundRect">
            <a:avLst>
              <a:gd name="adj" fmla="val 50000"/>
            </a:avLst>
          </a:prstGeom>
          <a:solidFill>
            <a:srgbClr val="64748B">
              <a:alpha val="60000"/>
            </a:srgbClr>
          </a:solidFill>
          <a:ln/>
        </p:spPr>
      </p:sp>
      <p:sp>
        <p:nvSpPr>
          <p:cNvPr id="37" name="wave 26"/>
          <p:cNvSpPr/>
          <p:nvPr/>
        </p:nvSpPr>
        <p:spPr>
          <a:xfrm>
            <a:off x="3817620" y="4371383"/>
            <a:ext cx="69152" cy="218353"/>
          </a:xfrm>
          <a:prstGeom prst="roundRect">
            <a:avLst>
              <a:gd name="adj" fmla="val 50000"/>
            </a:avLst>
          </a:prstGeom>
          <a:solidFill>
            <a:srgbClr val="64748B">
              <a:alpha val="60000"/>
            </a:srgbClr>
          </a:solidFill>
          <a:ln/>
        </p:spPr>
      </p:sp>
      <p:sp>
        <p:nvSpPr>
          <p:cNvPr id="38" name="wave 27"/>
          <p:cNvSpPr/>
          <p:nvPr/>
        </p:nvSpPr>
        <p:spPr>
          <a:xfrm>
            <a:off x="3943350" y="4317900"/>
            <a:ext cx="69152" cy="325320"/>
          </a:xfrm>
          <a:prstGeom prst="roundRect">
            <a:avLst>
              <a:gd name="adj" fmla="val 50000"/>
            </a:avLst>
          </a:prstGeom>
          <a:solidFill>
            <a:srgbClr val="64748B">
              <a:alpha val="60000"/>
            </a:srgbClr>
          </a:solidFill>
          <a:ln/>
        </p:spPr>
      </p:sp>
      <p:sp>
        <p:nvSpPr>
          <p:cNvPr id="39" name="wave 28"/>
          <p:cNvSpPr/>
          <p:nvPr/>
        </p:nvSpPr>
        <p:spPr>
          <a:xfrm>
            <a:off x="4069080" y="4431285"/>
            <a:ext cx="69152" cy="98550"/>
          </a:xfrm>
          <a:prstGeom prst="roundRect">
            <a:avLst>
              <a:gd name="adj" fmla="val 50000"/>
            </a:avLst>
          </a:prstGeom>
          <a:solidFill>
            <a:srgbClr val="64748B">
              <a:alpha val="60000"/>
            </a:srgbClr>
          </a:solidFill>
          <a:ln/>
        </p:spPr>
      </p:sp>
      <p:sp>
        <p:nvSpPr>
          <p:cNvPr id="40" name="wave 29"/>
          <p:cNvSpPr/>
          <p:nvPr/>
        </p:nvSpPr>
        <p:spPr>
          <a:xfrm>
            <a:off x="4194810" y="4394169"/>
            <a:ext cx="69152" cy="172783"/>
          </a:xfrm>
          <a:prstGeom prst="roundRect">
            <a:avLst>
              <a:gd name="adj" fmla="val 50000"/>
            </a:avLst>
          </a:prstGeom>
          <a:solidFill>
            <a:srgbClr val="64748B">
              <a:alpha val="60000"/>
            </a:srgbClr>
          </a:solidFill>
          <a:ln/>
        </p:spPr>
      </p:sp>
      <p:sp>
        <p:nvSpPr>
          <p:cNvPr id="41" name="wave 30"/>
          <p:cNvSpPr/>
          <p:nvPr/>
        </p:nvSpPr>
        <p:spPr>
          <a:xfrm>
            <a:off x="4320540" y="4399916"/>
            <a:ext cx="69152" cy="161288"/>
          </a:xfrm>
          <a:prstGeom prst="roundRect">
            <a:avLst>
              <a:gd name="adj" fmla="val 50000"/>
            </a:avLst>
          </a:prstGeom>
          <a:solidFill>
            <a:srgbClr val="2563EB">
              <a:alpha val="60000"/>
            </a:srgbClr>
          </a:solidFill>
          <a:ln/>
        </p:spPr>
      </p:sp>
      <p:sp>
        <p:nvSpPr>
          <p:cNvPr id="42" name="wave 31"/>
          <p:cNvSpPr/>
          <p:nvPr/>
        </p:nvSpPr>
        <p:spPr>
          <a:xfrm>
            <a:off x="4446270" y="4422171"/>
            <a:ext cx="69152" cy="116778"/>
          </a:xfrm>
          <a:prstGeom prst="roundRect">
            <a:avLst>
              <a:gd name="adj" fmla="val 50000"/>
            </a:avLst>
          </a:prstGeom>
          <a:solidFill>
            <a:srgbClr val="2563EB">
              <a:alpha val="60000"/>
            </a:srgbClr>
          </a:solidFill>
          <a:ln/>
        </p:spPr>
      </p:sp>
      <p:sp>
        <p:nvSpPr>
          <p:cNvPr id="43" name="wave 32"/>
          <p:cNvSpPr/>
          <p:nvPr/>
        </p:nvSpPr>
        <p:spPr>
          <a:xfrm>
            <a:off x="4572000" y="4351729"/>
            <a:ext cx="69152" cy="257662"/>
          </a:xfrm>
          <a:prstGeom prst="roundRect">
            <a:avLst>
              <a:gd name="adj" fmla="val 50000"/>
            </a:avLst>
          </a:prstGeom>
          <a:solidFill>
            <a:srgbClr val="2563EB">
              <a:alpha val="60000"/>
            </a:srgbClr>
          </a:solidFill>
          <a:ln/>
        </p:spPr>
      </p:sp>
      <p:sp>
        <p:nvSpPr>
          <p:cNvPr id="44" name="wave 33"/>
          <p:cNvSpPr/>
          <p:nvPr/>
        </p:nvSpPr>
        <p:spPr>
          <a:xfrm>
            <a:off x="4697730" y="4378428"/>
            <a:ext cx="69152" cy="204264"/>
          </a:xfrm>
          <a:prstGeom prst="roundRect">
            <a:avLst>
              <a:gd name="adj" fmla="val 50000"/>
            </a:avLst>
          </a:prstGeom>
          <a:solidFill>
            <a:srgbClr val="2563EB">
              <a:alpha val="60000"/>
            </a:srgbClr>
          </a:solidFill>
          <a:ln/>
        </p:spPr>
      </p:sp>
      <p:sp>
        <p:nvSpPr>
          <p:cNvPr id="45" name="wave 34"/>
          <p:cNvSpPr/>
          <p:nvPr/>
        </p:nvSpPr>
        <p:spPr>
          <a:xfrm>
            <a:off x="4823460" y="4413369"/>
            <a:ext cx="69152" cy="134383"/>
          </a:xfrm>
          <a:prstGeom prst="roundRect">
            <a:avLst>
              <a:gd name="adj" fmla="val 50000"/>
            </a:avLst>
          </a:prstGeom>
          <a:solidFill>
            <a:srgbClr val="2563EB">
              <a:alpha val="60000"/>
            </a:srgbClr>
          </a:solidFill>
          <a:ln/>
        </p:spPr>
      </p:sp>
      <p:sp>
        <p:nvSpPr>
          <p:cNvPr id="46" name="wave 35"/>
          <p:cNvSpPr/>
          <p:nvPr/>
        </p:nvSpPr>
        <p:spPr>
          <a:xfrm>
            <a:off x="4949190" y="4434526"/>
            <a:ext cx="69152" cy="92069"/>
          </a:xfrm>
          <a:prstGeom prst="roundRect">
            <a:avLst>
              <a:gd name="adj" fmla="val 50000"/>
            </a:avLst>
          </a:prstGeom>
          <a:solidFill>
            <a:srgbClr val="2563EB">
              <a:alpha val="60000"/>
            </a:srgbClr>
          </a:solidFill>
          <a:ln/>
        </p:spPr>
      </p:sp>
      <p:sp>
        <p:nvSpPr>
          <p:cNvPr id="47" name="wave 36"/>
          <p:cNvSpPr/>
          <p:nvPr/>
        </p:nvSpPr>
        <p:spPr>
          <a:xfrm>
            <a:off x="5074920" y="4405324"/>
            <a:ext cx="69152" cy="150473"/>
          </a:xfrm>
          <a:prstGeom prst="roundRect">
            <a:avLst>
              <a:gd name="adj" fmla="val 50000"/>
            </a:avLst>
          </a:prstGeom>
          <a:solidFill>
            <a:srgbClr val="2563EB">
              <a:alpha val="60000"/>
            </a:srgbClr>
          </a:solidFill>
          <a:ln/>
        </p:spPr>
      </p:sp>
      <p:sp>
        <p:nvSpPr>
          <p:cNvPr id="48" name="wave 37"/>
          <p:cNvSpPr/>
          <p:nvPr/>
        </p:nvSpPr>
        <p:spPr>
          <a:xfrm>
            <a:off x="5200650" y="4420358"/>
            <a:ext cx="69152" cy="120403"/>
          </a:xfrm>
          <a:prstGeom prst="roundRect">
            <a:avLst>
              <a:gd name="adj" fmla="val 50000"/>
            </a:avLst>
          </a:prstGeom>
          <a:solidFill>
            <a:srgbClr val="2563EB">
              <a:alpha val="60000"/>
            </a:srgbClr>
          </a:solidFill>
          <a:ln/>
        </p:spPr>
      </p:sp>
      <p:sp>
        <p:nvSpPr>
          <p:cNvPr id="49" name="wave 38"/>
          <p:cNvSpPr/>
          <p:nvPr/>
        </p:nvSpPr>
        <p:spPr>
          <a:xfrm>
            <a:off x="5326380" y="4405423"/>
            <a:ext cx="69152" cy="150273"/>
          </a:xfrm>
          <a:prstGeom prst="roundRect">
            <a:avLst>
              <a:gd name="adj" fmla="val 50000"/>
            </a:avLst>
          </a:prstGeom>
          <a:solidFill>
            <a:srgbClr val="2563EB">
              <a:alpha val="60000"/>
            </a:srgbClr>
          </a:solidFill>
          <a:ln/>
        </p:spPr>
      </p:sp>
      <p:sp>
        <p:nvSpPr>
          <p:cNvPr id="50" name="wave 39"/>
          <p:cNvSpPr/>
          <p:nvPr/>
        </p:nvSpPr>
        <p:spPr>
          <a:xfrm>
            <a:off x="5452110" y="4434840"/>
            <a:ext cx="69152" cy="91440"/>
          </a:xfrm>
          <a:prstGeom prst="roundRect">
            <a:avLst>
              <a:gd name="adj" fmla="val 50000"/>
            </a:avLst>
          </a:prstGeom>
          <a:solidFill>
            <a:srgbClr val="2563EB">
              <a:alpha val="60000"/>
            </a:srgbClr>
          </a:solidFill>
          <a:ln/>
        </p:spPr>
      </p:sp>
      <p:sp>
        <p:nvSpPr>
          <p:cNvPr id="51" name="Text 45"/>
          <p:cNvSpPr txBox="1"/>
          <p:nvPr/>
        </p:nvSpPr>
        <p:spPr>
          <a:xfrm>
            <a:off x="5120640" y="4343400"/>
            <a:ext cx="3474720" cy="320040"/>
          </a:xfrm>
          <a:prstGeom prst="rect">
            <a:avLst/>
          </a:prstGeom>
          <a:noFill/>
          <a:ln/>
        </p:spPr>
        <p:txBody>
          <a:bodyPr wrap="square" lIns="0" tIns="0" rIns="0" bIns="0" rtlCol="0" anchor="t"/>
          <a:lstStyle/>
          <a:p>
            <a:pPr algn="r" indent="0" marL="0">
              <a:buNone/>
            </a:pPr>
            <a:r>
              <a:rPr lang="en-US" sz="1200" dirty="0">
                <a:solidFill>
                  <a:srgbClr val="E8711A"/>
                </a:solidFill>
                <a:latin typeface="Calibri" pitchFamily="34" charset="0"/>
                <a:ea typeface="Calibri" pitchFamily="34" charset="-122"/>
                <a:cs typeface="Calibri" pitchFamily="34" charset="-120"/>
              </a:rPr>
              <a:t>Thank you · github.com/blowmuffin/kaggle</a:t>
            </a:r>
            <a:endParaRPr lang="en-US" sz="1200" dirty="0"/>
          </a:p>
        </p:txBody>
      </p:sp>
    </p:spTree>
  </p:cSld>
  <p:clrMapOvr>
    <a:masterClrMapping/>
  </p:clrMapOvr>
</p:sld>
</file>

<file path=ppt/theme/theme1.xml><?xml version="1.0" encoding="utf-8"?>
<a:theme xmlns:a="http://schemas.openxmlformats.org/drawingml/2006/main" name="Emotion Night">
  <a:themeElements>
    <a:clrScheme name="Emotion Night">
      <a:dk1>
        <a:srgbClr val="FFFFFF"/>
      </a:dk1>
      <a:lt1>
        <a:srgbClr val="0F172A"/>
      </a:lt1>
      <a:dk2>
        <a:srgbClr val="F3F4F9"/>
      </a:dk2>
      <a:lt2>
        <a:srgbClr val="475569"/>
      </a:lt2>
      <a:accent1>
        <a:srgbClr val="E8711A"/>
      </a:accent1>
      <a:accent2>
        <a:srgbClr val="2563EB"/>
      </a:accent2>
      <a:accent3>
        <a:srgbClr val="059669"/>
      </a:accent3>
      <a:accent4>
        <a:srgbClr val="D97706"/>
      </a:accent4>
      <a:accent5>
        <a:srgbClr val="E11D48"/>
      </a:accent5>
      <a:accent6>
        <a:srgbClr val="64748B"/>
      </a:accent6>
      <a:hlink>
        <a:srgbClr val="2563EB"/>
      </a:hlink>
      <a:folHlink>
        <a:srgbClr val="64748B"/>
      </a:folHlink>
    </a:clrScheme>
    <a:fontScheme name="Emotion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Hearing emotion in Hindi speech</dc:title>
  <dc:subject>PptxGenJS Presentation</dc:subject>
  <dc:creator>Ayush Kasare</dc:creator>
  <cp:lastModifiedBy>Ayush Kasare</cp:lastModifiedBy>
  <cp:revision>1</cp:revision>
  <dcterms:created xsi:type="dcterms:W3CDTF">2026-10-15T09:18:50Z</dcterms:created>
  <dcterms:modified xsi:type="dcterms:W3CDTF">2026-10-15T09:18:50Z</dcterms:modified>
</cp:coreProperties>
</file>